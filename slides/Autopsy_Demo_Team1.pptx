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notesMasterIdLst>
    <p:notesMasterId r:id="rId1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69290d0-1b55-b6ca-d76c-03afa6fc149f}">
          <p14:sldIdLst>
            <p14:sldId id="256"/>
            <p14:sldId id="257"/>
            <p14:sldId id="258"/>
            <p14:sldId id="259"/>
            <p14:sldId id="260"/>
          </p14:sldIdLst>
        </p14:section>
        <p14:section name="Use case" id="{9867eb20-0b6a-05c1-27c1-3925df4e7f0f}">
          <p14:sldIdLst>
            <p14:sldId id="261"/>
            <p14:sldId id="262"/>
            <p14:sldId id="263"/>
          </p14:sldIdLst>
        </p14:section>
        <p14:section name="Findings" id="{f5f4054b-ee6d-c894-67c9-dcf52dd008a3}">
          <p14:sldIdLst>
            <p14:sldId id="264"/>
            <p14:sldId id="265"/>
            <p14:sldId id="266"/>
            <p14:sldId id="267"/>
            <p14:sldId id="268"/>
            <p14:sldId id="269"/>
            <p14:sldId id="270"/>
          </p14:sldIdLst>
        </p14:section>
        <p14:section name="Conclusion" id="{ecb92fe0-0900-004f-f33d-a9c673f97c58}">
          <p14:sldIdLst>
            <p14:sldId id="27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presProps" Target="presProps.xml"/><Relationship Id="rId20" Type="http://schemas.openxmlformats.org/officeDocument/2006/relationships/viewProps" Target="viewProps.xml"/><Relationship Id="rId21" Type="http://schemas.openxmlformats.org/officeDocument/2006/relationships/theme" Target="theme/theme1.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tool. Autopsy is the first tool in the schedule, so we set the stage: it's the open-source standard for disk and storage-drive forensics. Today we analyse a seized USB pen drive image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Autopsy is the graphical front-end; the heavy lifting of parsing file systems is done by The Sleuth Kit. Because it's open source, results can be independently verified — important in court. Latest version 4.23.1; 4.23.0 (April 2026) added an MCP server for AI-assisted summaries.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pipeline: we create a case, add the image read-only, ingest modules run in parallel and post findings to the blackboard, then we review and report. The modules in the chips are exactly the ones we enable in the live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scenario sits in the corporate / insider-threat box: an employee suspected of leaking a confidential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Windows it's a one-click MSI. On Linux the snap is quickest; the official ZIP gives the latest version but needs Java 21 and The Sleuth Kit. Mention the two real issues we ran into while preparing.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up the story. Questions to answer: Is Falcon material on the drive, including hidden or deleted files? Who was it going to? When and where did it happen? All names and domains are fictional; .test is a reserved domain.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questions drive the whole demo. Every finding we show answers one of them; the conclusion slide gives the answers.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SCRIPT: 1) Case → New Case, name RIT-DF-2026-01_Falcon_Leak, number RIT-DF-2026-01, examiners. 2) Add Data Source → Disk Image or VM File → USB_Evidence_RM01.dd, time zone Asia/Calcutta, paste MD5 bacea5569e56c15fd14d6a4f7023c006. 3) Ingest screen → Keyword Search → Global Settings → New List 'Falcon_Case' → New Keywords falcon / confidential / transfer as Substring Match. 4) Tick the modules and Finish. Ingest takes under a minute on this 64 MB image. Backup plan if anything fails live: use the screenshots on the next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File Views → Deleted Files → File System. Select email_draft.txt and show the Text tab. Then select Project_Falcon_Design.pdf — 'CONFIDENTIAL – NEXORA LABS'. PhotoRec also carved a second copy of the PDF under $CarvedFiles.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Results → Extension Mismatch Detected. Explain file signatures / magic bytes: Autopsy identifies type from content, not the extension. Optional: open the Hex tab to show %PDF at offset 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Results → Keyword Hits → Falcon_Case → falcon. Select todo.txt — the highlighted hit shows the 4-step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Toolbar Keyword Search box → Regular Expression → paste the pattern → Search. The built-in Email Addresses list ignores the reserved .test domain, which is why a custom regex is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Analysis Results → EXIF Metadata. Point to date, latitude and longitude. If internet is available, click Geolocation to show both pins on the map. Then Data Sources → Archive → backup_oct.zip to show the extracted 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Toolbar → Timeline → List view and scroll 11 → 13 Oct, then come back to this slide to tell the story. FAT stores only the access date, which is why access events show 05:30 IST. The 23 Oct entries in Autopsy are the folder entries created when we prepared the image.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Envelope icon (Ingest Inbox) → 'Integrity of USB_Evidence_RM01.dd verified'. Then Generate Report → HTML Report → All Results → open report.html in the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the three questions from the start of the case. One 64 MB image and under a minute of ingest answered all three while keeping evidence integrity provable. Likely questions: How is deleted data recovered? (FAT directory entry marked 0xE5; clusters not wiped). Can Autopsy recover overwritten data? (No.) Recovery vs carving? (Carving uses file signatures in unallocated space without metadata — PhotoRec.)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lstStyle>
            <a:lvl1pPr indent="0" marL="0">
              <a:buNone/>
              <a:defRPr lang="en-US" sz="3600" b="1" dirty="0">
                <a:solidFill>
                  <a:schemeClr val="bg1"/>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3" name="Text 0"/>
          <p:cNvSpPr/>
          <p:nvPr>
            <p:ph idx="101" type="body" hasCustomPrompt="1"/>
          </p:nvPr>
        </p:nvSpPr>
        <p:spPr>
          <a:xfrm>
            <a:off x="548640" y="2697480"/>
            <a:ext cx="8046720" cy="82296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3" name="Text 0"/>
          <p:cNvSpPr/>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chemeClr val="accent4"/>
                </a:solidFill>
              </a:rPr>
              <a:t>Autopsy · Team 1 · 23CIOE09</a:t>
            </a:r>
            <a:endParaRPr lang="en-US" sz="9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jpg"/><Relationship Id="rId3" Type="http://schemas.openxmlformats.org/officeDocument/2006/relationships/slideLayout" Target="../slideLayouts/slideLayout2.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slideLayout" Target="../slideLayouts/slideLayout4.xml"/><Relationship Id="rId8"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autopsy splash" descr="img/welcome.png">    </p:cNvPr>
          <p:cNvPicPr>
            <a:picLocks noChangeAspect="1"/>
          </p:cNvPicPr>
          <p:nvPr/>
        </p:nvPicPr>
        <p:blipFill>
          <a:blip r:embed="rId1"/>
          <a:stretch>
            <a:fillRect/>
          </a:stretch>
        </p:blipFill>
        <p:spPr>
          <a:xfrm>
            <a:off x="5577840" y="1234440"/>
            <a:ext cx="3108960" cy="1996280"/>
          </a:xfrm>
          <a:prstGeom prst="rect">
            <a:avLst/>
          </a:prstGeom>
          <a:effectLst>
            <a:outerShdw sx="100000" sy="100000" kx="0" ky="0" algn="bl" rotWithShape="0" blurRad="101600" dist="38100" dir="5400000">
              <a:srgbClr val="000000">
                <a:alpha val="40000"/>
              </a:srgbClr>
            </a:outerShdw>
          </a:effectLst>
        </p:spPr>
      </p:pic>
      <p:sp>
        <p:nvSpPr>
          <p:cNvPr id="3" name="logo card"/>
          <p:cNvSpPr/>
          <p:nvPr/>
        </p:nvSpPr>
        <p:spPr>
          <a:xfrm>
            <a:off x="548640" y="274320"/>
            <a:ext cx="2103120" cy="658368"/>
          </a:xfrm>
          <a:prstGeom prst="roundRect">
            <a:avLst>
              <a:gd name="adj" fmla="val 8333"/>
            </a:avLst>
          </a:prstGeom>
          <a:solidFill>
            <a:schemeClr val="bg1"/>
          </a:solidFill>
          <a:ln w="12700">
            <a:solidFill>
              <a:schemeClr val="bg1"/>
            </a:solidFill>
            <a:prstDash val="solid"/>
          </a:ln>
        </p:spPr>
      </p:sp>
      <p:pic>
        <p:nvPicPr>
          <p:cNvPr id="4" name="RIT logo" descr="img/rit_logo.jpg">    </p:cNvPr>
          <p:cNvPicPr>
            <a:picLocks noChangeAspect="1"/>
          </p:cNvPicPr>
          <p:nvPr/>
        </p:nvPicPr>
        <p:blipFill>
          <a:blip r:embed="rId2"/>
          <a:stretch>
            <a:fillRect/>
          </a:stretch>
        </p:blipFill>
        <p:spPr>
          <a:xfrm>
            <a:off x="640080" y="338328"/>
            <a:ext cx="1920240" cy="528910"/>
          </a:xfrm>
          <a:prstGeom prst="rect">
            <a:avLst/>
          </a:prstGeom>
        </p:spPr>
      </p:pic>
      <p:sp>
        <p:nvSpPr>
          <p:cNvPr id="5" name="Text 1"/>
          <p:cNvSpPr txBox="1"/>
          <p:nvPr/>
        </p:nvSpPr>
        <p:spPr>
          <a:xfrm>
            <a:off x="548640" y="1097280"/>
            <a:ext cx="484632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DIGITAL FORENSICS TOOL DEMONSTRATION</a:t>
            </a:r>
            <a:endParaRPr lang="en-US" sz="1200" dirty="0"/>
          </a:p>
        </p:txBody>
      </p:sp>
      <p:sp>
        <p:nvSpPr>
          <p:cNvPr id="6" name="Text 2"/>
          <p:cNvSpPr txBox="1"/>
          <p:nvPr/>
        </p:nvSpPr>
        <p:spPr>
          <a:xfrm>
            <a:off x="548640" y="1417320"/>
            <a:ext cx="4846320" cy="868680"/>
          </a:xfrm>
          <a:prstGeom prst="rect">
            <a:avLst/>
          </a:prstGeom>
          <a:noFill/>
          <a:ln/>
        </p:spPr>
        <p:txBody>
          <a:bodyPr wrap="square" lIns="0" tIns="0" rIns="0" bIns="0" rtlCol="0" anchor="ctr"/>
          <a:lstStyle/>
          <a:p>
            <a:pPr indent="0" marL="0">
              <a:buNone/>
            </a:pPr>
            <a:r>
              <a:rPr lang="en-US" sz="5400" b="1" dirty="0">
                <a:solidFill>
                  <a:schemeClr val="bg1"/>
                </a:solidFill>
                <a:latin typeface="Cambria" pitchFamily="34" charset="0"/>
                <a:ea typeface="Cambria" pitchFamily="34" charset="-122"/>
                <a:cs typeface="Cambria" pitchFamily="34" charset="-120"/>
              </a:rPr>
              <a:t>Autopsy</a:t>
            </a:r>
            <a:endParaRPr lang="en-US" sz="5400" dirty="0"/>
          </a:p>
        </p:txBody>
      </p:sp>
      <p:sp>
        <p:nvSpPr>
          <p:cNvPr id="7" name="Text 3"/>
          <p:cNvSpPr txBox="1"/>
          <p:nvPr/>
        </p:nvSpPr>
        <p:spPr>
          <a:xfrm>
            <a:off x="548640" y="2286000"/>
            <a:ext cx="4846320" cy="457200"/>
          </a:xfrm>
          <a:prstGeom prst="rect">
            <a:avLst/>
          </a:prstGeom>
          <a:noFill/>
          <a:ln/>
        </p:spPr>
        <p:txBody>
          <a:bodyPr wrap="square" lIns="0" tIns="0" rIns="0" bIns="0" rtlCol="0" anchor="ctr"/>
          <a:lstStyle/>
          <a:p>
            <a:pPr indent="0" marL="0">
              <a:buNone/>
            </a:pPr>
            <a:r>
              <a:rPr lang="en-US" sz="2200" dirty="0">
                <a:solidFill>
                  <a:schemeClr val="accent5"/>
                </a:solidFill>
              </a:rPr>
              <a:t>Storage Drive Evidence Analysis</a:t>
            </a:r>
            <a:endParaRPr lang="en-US" sz="2200" dirty="0"/>
          </a:p>
        </p:txBody>
      </p:sp>
      <p:sp>
        <p:nvSpPr>
          <p:cNvPr id="8" name="Text 4"/>
          <p:cNvSpPr txBox="1"/>
          <p:nvPr/>
        </p:nvSpPr>
        <p:spPr>
          <a:xfrm>
            <a:off x="548640" y="3429000"/>
            <a:ext cx="4937760" cy="914400"/>
          </a:xfrm>
          <a:prstGeom prst="rect">
            <a:avLst/>
          </a:prstGeom>
          <a:noFill/>
          <a:ln/>
        </p:spPr>
        <p:txBody>
          <a:bodyPr wrap="square" lIns="0" tIns="0" rIns="0" bIns="0" rtlCol="0" anchor="ctr"/>
          <a:lstStyle/>
          <a:p>
            <a:pPr indent="0" marL="0">
              <a:spcAft>
                <a:spcPts val="400"/>
              </a:spcAft>
              <a:buNone/>
            </a:pPr>
            <a:r>
              <a:rPr lang="en-US" sz="1200" dirty="0">
                <a:solidFill>
                  <a:schemeClr val="bg1"/>
                </a:solidFill>
              </a:rPr>
              <a:t>Team 1 · Gautham (1MS23EC040) · Archana (1MS24EC400)</a:t>
            </a:r>
            <a:endParaRPr lang="en-US" sz="1200" dirty="0"/>
          </a:p>
          <a:p>
            <a:pPr indent="0" marL="0">
              <a:spcAft>
                <a:spcPts val="400"/>
              </a:spcAft>
              <a:buNone/>
            </a:pPr>
            <a:r>
              <a:rPr lang="en-US" sz="1200" dirty="0">
                <a:solidFill>
                  <a:schemeClr val="bg1"/>
                </a:solidFill>
              </a:rPr>
              <a:t>Introduction to Digital Forensics (23CIOE09) · 27 Oct 2026</a:t>
            </a:r>
            <a:endParaRPr lang="en-US" sz="1200" dirty="0"/>
          </a:p>
          <a:p>
            <a:pPr indent="0" marL="0">
              <a:spcAft>
                <a:spcPts val="400"/>
              </a:spcAft>
              <a:buNone/>
            </a:pPr>
            <a:r>
              <a:rPr lang="en-US" sz="1200" dirty="0">
                <a:solidFill>
                  <a:schemeClr val="bg1"/>
                </a:solidFill>
              </a:rPr>
              <a:t>Faculty: Dr. Rajeshwari S B · Ramaiah Institute of Technology</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What is Autopsy?</a:t>
            </a:r>
            <a:endParaRPr lang="en-US" sz="2800" dirty="0"/>
          </a:p>
        </p:txBody>
      </p:sp>
      <p:sp>
        <p:nvSpPr>
          <p:cNvPr id="3" name="Text 1"/>
          <p:cNvSpPr txBox="1"/>
          <p:nvPr/>
        </p:nvSpPr>
        <p:spPr>
          <a:xfrm>
            <a:off x="457200" y="1051560"/>
            <a:ext cx="4937760" cy="3474720"/>
          </a:xfrm>
          <a:prstGeom prst="rect">
            <a:avLst/>
          </a:prstGeom>
          <a:noFill/>
          <a:ln/>
        </p:spPr>
        <p:txBody>
          <a:bodyPr wrap="square" lIns="0" tIns="0" rIns="0" bIns="0" rtlCol="0" anchor="t"/>
          <a:lstStyle/>
          <a:p>
            <a:pPr marL="177800" indent="-177800">
              <a:spcAft>
                <a:spcPts val="600"/>
              </a:spcAft>
              <a:buSzPct val="100000"/>
              <a:buChar char="•"/>
            </a:pPr>
            <a:r>
              <a:rPr lang="en-US" sz="1500" dirty="0">
                <a:solidFill>
                  <a:schemeClr val="tx1"/>
                </a:solidFill>
              </a:rPr>
              <a:t>Open-source digital forensics platform — a GUI on top of The Sleuth Kit (TSK)</a:t>
            </a:r>
            <a:endParaRPr lang="en-US" sz="1500" dirty="0"/>
          </a:p>
          <a:p>
            <a:pPr marL="177800" indent="-177800">
              <a:spcAft>
                <a:spcPts val="600"/>
              </a:spcAft>
              <a:buSzPct val="100000"/>
              <a:buChar char="•"/>
            </a:pPr>
            <a:r>
              <a:rPr lang="en-US" sz="1500" dirty="0">
                <a:solidFill>
                  <a:schemeClr val="tx1"/>
                </a:solidFill>
              </a:rPr>
              <a:t>Maintained by Sleuth Kit Labs; created by Brian Carrier</a:t>
            </a:r>
            <a:endParaRPr lang="en-US" sz="1500" dirty="0"/>
          </a:p>
          <a:p>
            <a:pPr marL="177800" indent="-177800">
              <a:spcAft>
                <a:spcPts val="600"/>
              </a:spcAft>
              <a:buSzPct val="100000"/>
              <a:buChar char="•"/>
            </a:pPr>
            <a:r>
              <a:rPr lang="en-US" sz="1500" dirty="0">
                <a:solidFill>
                  <a:schemeClr val="tx1"/>
                </a:solidFill>
              </a:rPr>
              <a:t>Runs on Windows (MSI), Linux and macOS; written in Java</a:t>
            </a:r>
            <a:endParaRPr lang="en-US" sz="1500" dirty="0"/>
          </a:p>
          <a:p>
            <a:pPr marL="177800" indent="-177800">
              <a:spcAft>
                <a:spcPts val="600"/>
              </a:spcAft>
              <a:buSzPct val="100000"/>
              <a:buChar char="•"/>
            </a:pPr>
            <a:r>
              <a:rPr lang="en-US" sz="1500" dirty="0">
                <a:solidFill>
                  <a:schemeClr val="tx1"/>
                </a:solidFill>
              </a:rPr>
              <a:t>Reads raw/dd, E01, VHD, VMDK images, physical disks and logical files</a:t>
            </a:r>
            <a:endParaRPr lang="en-US" sz="1500" dirty="0"/>
          </a:p>
          <a:p>
            <a:pPr marL="177800" indent="-177800">
              <a:spcAft>
                <a:spcPts val="600"/>
              </a:spcAft>
              <a:buSzPct val="100000"/>
              <a:buChar char="•"/>
            </a:pPr>
            <a:r>
              <a:rPr lang="en-US" sz="1500" dirty="0">
                <a:solidFill>
                  <a:schemeClr val="tx1"/>
                </a:solidFill>
              </a:rPr>
              <a:t>File systems: NTFS, FAT, exFAT, ext2/3/4, HFS+, APFS, ISO 9660</a:t>
            </a:r>
            <a:endParaRPr lang="en-US" sz="1500" dirty="0"/>
          </a:p>
          <a:p>
            <a:pPr marL="177800" indent="-177800">
              <a:spcAft>
                <a:spcPts val="600"/>
              </a:spcAft>
              <a:buSzPct val="100000"/>
              <a:buChar char="•"/>
            </a:pPr>
            <a:r>
              <a:rPr lang="en-US" sz="1500" dirty="0">
                <a:solidFill>
                  <a:schemeClr val="tx1"/>
                </a:solidFill>
              </a:rPr>
              <a:t>Never writes to the evidence — everything lives in a separate case folder</a:t>
            </a:r>
            <a:endParaRPr lang="en-US" sz="1500" dirty="0"/>
          </a:p>
        </p:txBody>
      </p:sp>
      <p:sp>
        <p:nvSpPr>
          <p:cNvPr id="4" name="stat card"/>
          <p:cNvSpPr/>
          <p:nvPr/>
        </p:nvSpPr>
        <p:spPr>
          <a:xfrm>
            <a:off x="5760720" y="1051560"/>
            <a:ext cx="2926080" cy="1005840"/>
          </a:xfrm>
          <a:prstGeom prst="roundRect">
            <a:avLst>
              <a:gd name="adj" fmla="val 7273"/>
            </a:avLst>
          </a:prstGeom>
          <a:solidFill>
            <a:schemeClr val="bg2"/>
          </a:solidFill>
          <a:ln w="12700">
            <a:solidFill>
              <a:schemeClr val="bg2"/>
            </a:solidFill>
            <a:prstDash val="solid"/>
          </a:ln>
        </p:spPr>
      </p:sp>
      <p:sp>
        <p:nvSpPr>
          <p:cNvPr id="5" name="Text 3"/>
          <p:cNvSpPr txBox="1"/>
          <p:nvPr/>
        </p:nvSpPr>
        <p:spPr>
          <a:xfrm>
            <a:off x="5943600" y="1124712"/>
            <a:ext cx="2651760" cy="54864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Free</a:t>
            </a:r>
            <a:endParaRPr lang="en-US" sz="3000" dirty="0"/>
          </a:p>
        </p:txBody>
      </p:sp>
      <p:sp>
        <p:nvSpPr>
          <p:cNvPr id="6" name="Text 4"/>
          <p:cNvSpPr txBox="1"/>
          <p:nvPr/>
        </p:nvSpPr>
        <p:spPr>
          <a:xfrm>
            <a:off x="5943600" y="1673352"/>
            <a:ext cx="2651760" cy="292608"/>
          </a:xfrm>
          <a:prstGeom prst="rect">
            <a:avLst/>
          </a:prstGeom>
          <a:noFill/>
          <a:ln/>
        </p:spPr>
        <p:txBody>
          <a:bodyPr wrap="square" lIns="0" tIns="0" rIns="0" bIns="0" rtlCol="0" anchor="ctr"/>
          <a:lstStyle/>
          <a:p>
            <a:pPr indent="0" marL="0">
              <a:buNone/>
            </a:pPr>
            <a:r>
              <a:rPr lang="en-US" sz="1200" dirty="0">
                <a:solidFill>
                  <a:schemeClr val="accent4"/>
                </a:solidFill>
              </a:rPr>
              <a:t>open source, Apache 2.0</a:t>
            </a:r>
            <a:endParaRPr lang="en-US" sz="1200" dirty="0"/>
          </a:p>
        </p:txBody>
      </p:sp>
      <p:sp>
        <p:nvSpPr>
          <p:cNvPr id="7" name="stat card"/>
          <p:cNvSpPr/>
          <p:nvPr/>
        </p:nvSpPr>
        <p:spPr>
          <a:xfrm>
            <a:off x="5760720" y="2240280"/>
            <a:ext cx="2926080" cy="1005840"/>
          </a:xfrm>
          <a:prstGeom prst="roundRect">
            <a:avLst>
              <a:gd name="adj" fmla="val 7273"/>
            </a:avLst>
          </a:prstGeom>
          <a:solidFill>
            <a:schemeClr val="bg2"/>
          </a:solidFill>
          <a:ln w="12700">
            <a:solidFill>
              <a:schemeClr val="bg2"/>
            </a:solidFill>
            <a:prstDash val="solid"/>
          </a:ln>
        </p:spPr>
      </p:sp>
      <p:sp>
        <p:nvSpPr>
          <p:cNvPr id="8" name="Text 6"/>
          <p:cNvSpPr txBox="1"/>
          <p:nvPr/>
        </p:nvSpPr>
        <p:spPr>
          <a:xfrm>
            <a:off x="5943600" y="2313432"/>
            <a:ext cx="2651760" cy="54864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4.23.1</a:t>
            </a:r>
            <a:endParaRPr lang="en-US" sz="3000" dirty="0"/>
          </a:p>
        </p:txBody>
      </p:sp>
      <p:sp>
        <p:nvSpPr>
          <p:cNvPr id="9" name="Text 7"/>
          <p:cNvSpPr txBox="1"/>
          <p:nvPr/>
        </p:nvSpPr>
        <p:spPr>
          <a:xfrm>
            <a:off x="5943600" y="2862072"/>
            <a:ext cx="2651760" cy="292608"/>
          </a:xfrm>
          <a:prstGeom prst="rect">
            <a:avLst/>
          </a:prstGeom>
          <a:noFill/>
          <a:ln/>
        </p:spPr>
        <p:txBody>
          <a:bodyPr wrap="square" lIns="0" tIns="0" rIns="0" bIns="0" rtlCol="0" anchor="ctr"/>
          <a:lstStyle/>
          <a:p>
            <a:pPr indent="0" marL="0">
              <a:buNone/>
            </a:pPr>
            <a:r>
              <a:rPr lang="en-US" sz="1200" dirty="0">
                <a:solidFill>
                  <a:schemeClr val="accent4"/>
                </a:solidFill>
              </a:rPr>
              <a:t>latest release (2026)</a:t>
            </a:r>
            <a:endParaRPr lang="en-US" sz="1200" dirty="0"/>
          </a:p>
        </p:txBody>
      </p:sp>
      <p:sp>
        <p:nvSpPr>
          <p:cNvPr id="10" name="stat card"/>
          <p:cNvSpPr/>
          <p:nvPr/>
        </p:nvSpPr>
        <p:spPr>
          <a:xfrm>
            <a:off x="5760720" y="3429000"/>
            <a:ext cx="2926080" cy="1005840"/>
          </a:xfrm>
          <a:prstGeom prst="roundRect">
            <a:avLst>
              <a:gd name="adj" fmla="val 7273"/>
            </a:avLst>
          </a:prstGeom>
          <a:solidFill>
            <a:schemeClr val="bg2"/>
          </a:solidFill>
          <a:ln w="12700">
            <a:solidFill>
              <a:schemeClr val="bg2"/>
            </a:solidFill>
            <a:prstDash val="solid"/>
          </a:ln>
        </p:spPr>
      </p:sp>
      <p:sp>
        <p:nvSpPr>
          <p:cNvPr id="11" name="Text 9"/>
          <p:cNvSpPr txBox="1"/>
          <p:nvPr/>
        </p:nvSpPr>
        <p:spPr>
          <a:xfrm>
            <a:off x="5943600" y="3502152"/>
            <a:ext cx="2651760" cy="548640"/>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20+</a:t>
            </a:r>
            <a:endParaRPr lang="en-US" sz="3000" dirty="0"/>
          </a:p>
        </p:txBody>
      </p:sp>
      <p:sp>
        <p:nvSpPr>
          <p:cNvPr id="12" name="Text 10"/>
          <p:cNvSpPr txBox="1"/>
          <p:nvPr/>
        </p:nvSpPr>
        <p:spPr>
          <a:xfrm>
            <a:off x="5943600" y="4050792"/>
            <a:ext cx="2651760" cy="292608"/>
          </a:xfrm>
          <a:prstGeom prst="rect">
            <a:avLst/>
          </a:prstGeom>
          <a:noFill/>
          <a:ln/>
        </p:spPr>
        <p:txBody>
          <a:bodyPr wrap="square" lIns="0" tIns="0" rIns="0" bIns="0" rtlCol="0" anchor="ctr"/>
          <a:lstStyle/>
          <a:p>
            <a:pPr indent="0" marL="0">
              <a:buNone/>
            </a:pPr>
            <a:r>
              <a:rPr lang="en-US" sz="1200" dirty="0">
                <a:solidFill>
                  <a:schemeClr val="accent4"/>
                </a:solidFill>
              </a:rPr>
              <a:t>built-in ingest modules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How an Autopsy investigation flows</a:t>
            </a:r>
            <a:endParaRPr lang="en-US" sz="2800" dirty="0"/>
          </a:p>
        </p:txBody>
      </p:sp>
      <p:sp>
        <p:nvSpPr>
          <p:cNvPr id="3" name="flow step"/>
          <p:cNvSpPr/>
          <p:nvPr/>
        </p:nvSpPr>
        <p:spPr>
          <a:xfrm>
            <a:off x="457200" y="1371600"/>
            <a:ext cx="1216152" cy="1143000"/>
          </a:xfrm>
          <a:prstGeom prst="roundRect">
            <a:avLst>
              <a:gd name="adj" fmla="val 6400"/>
            </a:avLst>
          </a:prstGeom>
          <a:solidFill>
            <a:schemeClr val="tx2"/>
          </a:solidFill>
          <a:ln w="12700">
            <a:solidFill>
              <a:schemeClr val="tx2"/>
            </a:solidFill>
            <a:prstDash val="solid"/>
          </a:ln>
        </p:spPr>
      </p:sp>
      <p:sp>
        <p:nvSpPr>
          <p:cNvPr id="4" name="Text 2"/>
          <p:cNvSpPr txBox="1"/>
          <p:nvPr/>
        </p:nvSpPr>
        <p:spPr>
          <a:xfrm>
            <a:off x="457200" y="1444752"/>
            <a:ext cx="1216152" cy="320040"/>
          </a:xfrm>
          <a:prstGeom prst="rect">
            <a:avLst/>
          </a:prstGeom>
          <a:noFill/>
          <a:ln/>
        </p:spPr>
        <p:txBody>
          <a:bodyPr wrap="square" lIns="0" tIns="0" rIns="0" bIns="0" rtlCol="0" anchor="ctr"/>
          <a:lstStyle/>
          <a:p>
            <a:pPr algn="ctr" indent="0" marL="0">
              <a:buNone/>
            </a:pPr>
            <a:r>
              <a:rPr lang="en-US" sz="1400" b="1" dirty="0">
                <a:solidFill>
                  <a:schemeClr val="accent1"/>
                </a:solidFill>
              </a:rPr>
              <a:t>1</a:t>
            </a:r>
            <a:endParaRPr lang="en-US" sz="1400" dirty="0"/>
          </a:p>
        </p:txBody>
      </p:sp>
      <p:sp>
        <p:nvSpPr>
          <p:cNvPr id="5" name="Text 3"/>
          <p:cNvSpPr txBox="1"/>
          <p:nvPr/>
        </p:nvSpPr>
        <p:spPr>
          <a:xfrm>
            <a:off x="502920" y="1755648"/>
            <a:ext cx="1124712" cy="384048"/>
          </a:xfrm>
          <a:prstGeom prst="rect">
            <a:avLst/>
          </a:prstGeom>
          <a:noFill/>
          <a:ln/>
        </p:spPr>
        <p:txBody>
          <a:bodyPr wrap="square" lIns="0" tIns="0" rIns="0" bIns="0" rtlCol="0" anchor="ctr"/>
          <a:lstStyle/>
          <a:p>
            <a:pPr algn="ctr" indent="0" marL="0">
              <a:buNone/>
            </a:pPr>
            <a:r>
              <a:rPr lang="en-US" sz="1300" b="1" dirty="0">
                <a:solidFill>
                  <a:schemeClr val="bg1"/>
                </a:solidFill>
              </a:rPr>
              <a:t>Case</a:t>
            </a:r>
            <a:endParaRPr lang="en-US" sz="1300" dirty="0"/>
          </a:p>
        </p:txBody>
      </p:sp>
      <p:sp>
        <p:nvSpPr>
          <p:cNvPr id="6" name="Text 4"/>
          <p:cNvSpPr txBox="1"/>
          <p:nvPr/>
        </p:nvSpPr>
        <p:spPr>
          <a:xfrm>
            <a:off x="502920" y="2121408"/>
            <a:ext cx="1124712" cy="329184"/>
          </a:xfrm>
          <a:prstGeom prst="rect">
            <a:avLst/>
          </a:prstGeom>
          <a:noFill/>
          <a:ln/>
        </p:spPr>
        <p:txBody>
          <a:bodyPr wrap="square" lIns="0" tIns="0" rIns="0" bIns="0" rtlCol="0" anchor="t"/>
          <a:lstStyle/>
          <a:p>
            <a:pPr algn="ctr" indent="0" marL="0">
              <a:buNone/>
            </a:pPr>
            <a:r>
              <a:rPr lang="en-US" sz="1000" dirty="0">
                <a:solidFill>
                  <a:schemeClr val="accent5"/>
                </a:solidFill>
              </a:rPr>
              <a:t>folder + database</a:t>
            </a:r>
            <a:endParaRPr lang="en-US" sz="1000" dirty="0"/>
          </a:p>
        </p:txBody>
      </p:sp>
      <p:sp>
        <p:nvSpPr>
          <p:cNvPr id="7" name="arrow"/>
          <p:cNvSpPr/>
          <p:nvPr/>
        </p:nvSpPr>
        <p:spPr>
          <a:xfrm rot="5400000">
            <a:off x="1709928" y="1847088"/>
            <a:ext cx="109728" cy="182880"/>
          </a:xfrm>
          <a:prstGeom prst="rtTriangle">
            <a:avLst/>
          </a:prstGeom>
          <a:solidFill>
            <a:schemeClr val="accent4"/>
          </a:solidFill>
          <a:ln w="12700">
            <a:solidFill>
              <a:schemeClr val="accent4"/>
            </a:solidFill>
            <a:prstDash val="solid"/>
          </a:ln>
        </p:spPr>
      </p:sp>
      <p:sp>
        <p:nvSpPr>
          <p:cNvPr id="8" name="flow step"/>
          <p:cNvSpPr/>
          <p:nvPr/>
        </p:nvSpPr>
        <p:spPr>
          <a:xfrm>
            <a:off x="1856232" y="1371600"/>
            <a:ext cx="1216152" cy="1143000"/>
          </a:xfrm>
          <a:prstGeom prst="roundRect">
            <a:avLst>
              <a:gd name="adj" fmla="val 6400"/>
            </a:avLst>
          </a:prstGeom>
          <a:solidFill>
            <a:schemeClr val="tx2"/>
          </a:solidFill>
          <a:ln w="12700">
            <a:solidFill>
              <a:schemeClr val="tx2"/>
            </a:solidFill>
            <a:prstDash val="solid"/>
          </a:ln>
        </p:spPr>
      </p:sp>
      <p:sp>
        <p:nvSpPr>
          <p:cNvPr id="9" name="Text 7"/>
          <p:cNvSpPr txBox="1"/>
          <p:nvPr/>
        </p:nvSpPr>
        <p:spPr>
          <a:xfrm>
            <a:off x="1856232" y="1444752"/>
            <a:ext cx="1216152" cy="320040"/>
          </a:xfrm>
          <a:prstGeom prst="rect">
            <a:avLst/>
          </a:prstGeom>
          <a:noFill/>
          <a:ln/>
        </p:spPr>
        <p:txBody>
          <a:bodyPr wrap="square" lIns="0" tIns="0" rIns="0" bIns="0" rtlCol="0" anchor="ctr"/>
          <a:lstStyle/>
          <a:p>
            <a:pPr algn="ctr" indent="0" marL="0">
              <a:buNone/>
            </a:pPr>
            <a:r>
              <a:rPr lang="en-US" sz="1400" b="1" dirty="0">
                <a:solidFill>
                  <a:schemeClr val="accent1"/>
                </a:solidFill>
              </a:rPr>
              <a:t>2</a:t>
            </a:r>
            <a:endParaRPr lang="en-US" sz="1400" dirty="0"/>
          </a:p>
        </p:txBody>
      </p:sp>
      <p:sp>
        <p:nvSpPr>
          <p:cNvPr id="10" name="Text 8"/>
          <p:cNvSpPr txBox="1"/>
          <p:nvPr/>
        </p:nvSpPr>
        <p:spPr>
          <a:xfrm>
            <a:off x="1901952" y="1755648"/>
            <a:ext cx="1124712" cy="384048"/>
          </a:xfrm>
          <a:prstGeom prst="rect">
            <a:avLst/>
          </a:prstGeom>
          <a:noFill/>
          <a:ln/>
        </p:spPr>
        <p:txBody>
          <a:bodyPr wrap="square" lIns="0" tIns="0" rIns="0" bIns="0" rtlCol="0" anchor="ctr"/>
          <a:lstStyle/>
          <a:p>
            <a:pPr algn="ctr" indent="0" marL="0">
              <a:buNone/>
            </a:pPr>
            <a:r>
              <a:rPr lang="en-US" sz="1300" b="1" dirty="0">
                <a:solidFill>
                  <a:schemeClr val="bg1"/>
                </a:solidFill>
              </a:rPr>
              <a:t>Data source</a:t>
            </a:r>
            <a:endParaRPr lang="en-US" sz="1300" dirty="0"/>
          </a:p>
        </p:txBody>
      </p:sp>
      <p:sp>
        <p:nvSpPr>
          <p:cNvPr id="11" name="Text 9"/>
          <p:cNvSpPr txBox="1"/>
          <p:nvPr/>
        </p:nvSpPr>
        <p:spPr>
          <a:xfrm>
            <a:off x="1901952" y="2121408"/>
            <a:ext cx="1124712" cy="329184"/>
          </a:xfrm>
          <a:prstGeom prst="rect">
            <a:avLst/>
          </a:prstGeom>
          <a:noFill/>
          <a:ln/>
        </p:spPr>
        <p:txBody>
          <a:bodyPr wrap="square" lIns="0" tIns="0" rIns="0" bIns="0" rtlCol="0" anchor="t"/>
          <a:lstStyle/>
          <a:p>
            <a:pPr algn="ctr" indent="0" marL="0">
              <a:buNone/>
            </a:pPr>
            <a:r>
              <a:rPr lang="en-US" sz="1000" dirty="0">
                <a:solidFill>
                  <a:schemeClr val="accent5"/>
                </a:solidFill>
              </a:rPr>
              <a:t>disk image, read-only</a:t>
            </a:r>
            <a:endParaRPr lang="en-US" sz="1000" dirty="0"/>
          </a:p>
        </p:txBody>
      </p:sp>
      <p:sp>
        <p:nvSpPr>
          <p:cNvPr id="12" name="arrow"/>
          <p:cNvSpPr/>
          <p:nvPr/>
        </p:nvSpPr>
        <p:spPr>
          <a:xfrm rot="5400000">
            <a:off x="3108960" y="1847088"/>
            <a:ext cx="109728" cy="182880"/>
          </a:xfrm>
          <a:prstGeom prst="rtTriangle">
            <a:avLst/>
          </a:prstGeom>
          <a:solidFill>
            <a:schemeClr val="accent4"/>
          </a:solidFill>
          <a:ln w="12700">
            <a:solidFill>
              <a:schemeClr val="accent4"/>
            </a:solidFill>
            <a:prstDash val="solid"/>
          </a:ln>
        </p:spPr>
      </p:sp>
      <p:sp>
        <p:nvSpPr>
          <p:cNvPr id="13" name="flow step"/>
          <p:cNvSpPr/>
          <p:nvPr/>
        </p:nvSpPr>
        <p:spPr>
          <a:xfrm>
            <a:off x="3255264" y="1371600"/>
            <a:ext cx="1216152" cy="1143000"/>
          </a:xfrm>
          <a:prstGeom prst="roundRect">
            <a:avLst>
              <a:gd name="adj" fmla="val 6400"/>
            </a:avLst>
          </a:prstGeom>
          <a:solidFill>
            <a:schemeClr val="accent1"/>
          </a:solidFill>
          <a:ln w="12700">
            <a:solidFill>
              <a:schemeClr val="tx2"/>
            </a:solidFill>
            <a:prstDash val="solid"/>
          </a:ln>
        </p:spPr>
      </p:sp>
      <p:sp>
        <p:nvSpPr>
          <p:cNvPr id="14" name="Text 12"/>
          <p:cNvSpPr txBox="1"/>
          <p:nvPr/>
        </p:nvSpPr>
        <p:spPr>
          <a:xfrm>
            <a:off x="3255264" y="1444752"/>
            <a:ext cx="1216152" cy="320040"/>
          </a:xfrm>
          <a:prstGeom prst="rect">
            <a:avLst/>
          </a:prstGeom>
          <a:noFill/>
          <a:ln/>
        </p:spPr>
        <p:txBody>
          <a:bodyPr wrap="square" lIns="0" tIns="0" rIns="0" bIns="0" rtlCol="0" anchor="ctr"/>
          <a:lstStyle/>
          <a:p>
            <a:pPr algn="ctr" indent="0" marL="0">
              <a:buNone/>
            </a:pPr>
            <a:r>
              <a:rPr lang="en-US" sz="1400" b="1" dirty="0">
                <a:solidFill>
                  <a:schemeClr val="tx2"/>
                </a:solidFill>
              </a:rPr>
              <a:t>3</a:t>
            </a:r>
            <a:endParaRPr lang="en-US" sz="1400" dirty="0"/>
          </a:p>
        </p:txBody>
      </p:sp>
      <p:sp>
        <p:nvSpPr>
          <p:cNvPr id="15" name="Text 13"/>
          <p:cNvSpPr txBox="1"/>
          <p:nvPr/>
        </p:nvSpPr>
        <p:spPr>
          <a:xfrm>
            <a:off x="3300984" y="1755648"/>
            <a:ext cx="1124712" cy="384048"/>
          </a:xfrm>
          <a:prstGeom prst="rect">
            <a:avLst/>
          </a:prstGeom>
          <a:noFill/>
          <a:ln/>
        </p:spPr>
        <p:txBody>
          <a:bodyPr wrap="square" lIns="0" tIns="0" rIns="0" bIns="0" rtlCol="0" anchor="ctr"/>
          <a:lstStyle/>
          <a:p>
            <a:pPr algn="ctr" indent="0" marL="0">
              <a:buNone/>
            </a:pPr>
            <a:r>
              <a:rPr lang="en-US" sz="1300" b="1" dirty="0">
                <a:solidFill>
                  <a:schemeClr val="tx2"/>
                </a:solidFill>
              </a:rPr>
              <a:t>Ingest modules</a:t>
            </a:r>
            <a:endParaRPr lang="en-US" sz="1300" dirty="0"/>
          </a:p>
        </p:txBody>
      </p:sp>
      <p:sp>
        <p:nvSpPr>
          <p:cNvPr id="16" name="Text 14"/>
          <p:cNvSpPr txBox="1"/>
          <p:nvPr/>
        </p:nvSpPr>
        <p:spPr>
          <a:xfrm>
            <a:off x="3300984" y="2121408"/>
            <a:ext cx="1124712" cy="329184"/>
          </a:xfrm>
          <a:prstGeom prst="rect">
            <a:avLst/>
          </a:prstGeom>
          <a:noFill/>
          <a:ln/>
        </p:spPr>
        <p:txBody>
          <a:bodyPr wrap="square" lIns="0" tIns="0" rIns="0" bIns="0" rtlCol="0" anchor="t"/>
          <a:lstStyle/>
          <a:p>
            <a:pPr algn="ctr" indent="0" marL="0">
              <a:buNone/>
            </a:pPr>
            <a:r>
              <a:rPr lang="en-US" sz="1000" dirty="0">
                <a:solidFill>
                  <a:schemeClr val="tx2"/>
                </a:solidFill>
              </a:rPr>
              <a:t>automatic analysis</a:t>
            </a:r>
            <a:endParaRPr lang="en-US" sz="1000" dirty="0"/>
          </a:p>
        </p:txBody>
      </p:sp>
      <p:sp>
        <p:nvSpPr>
          <p:cNvPr id="17" name="arrow"/>
          <p:cNvSpPr/>
          <p:nvPr/>
        </p:nvSpPr>
        <p:spPr>
          <a:xfrm rot="5400000">
            <a:off x="4507992" y="1847088"/>
            <a:ext cx="109728" cy="182880"/>
          </a:xfrm>
          <a:prstGeom prst="rtTriangle">
            <a:avLst/>
          </a:prstGeom>
          <a:solidFill>
            <a:schemeClr val="accent4"/>
          </a:solidFill>
          <a:ln w="12700">
            <a:solidFill>
              <a:schemeClr val="accent4"/>
            </a:solidFill>
            <a:prstDash val="solid"/>
          </a:ln>
        </p:spPr>
      </p:sp>
      <p:sp>
        <p:nvSpPr>
          <p:cNvPr id="18" name="flow step"/>
          <p:cNvSpPr/>
          <p:nvPr/>
        </p:nvSpPr>
        <p:spPr>
          <a:xfrm>
            <a:off x="4654296" y="1371600"/>
            <a:ext cx="1216152" cy="1143000"/>
          </a:xfrm>
          <a:prstGeom prst="roundRect">
            <a:avLst>
              <a:gd name="adj" fmla="val 6400"/>
            </a:avLst>
          </a:prstGeom>
          <a:solidFill>
            <a:schemeClr val="tx2"/>
          </a:solidFill>
          <a:ln w="12700">
            <a:solidFill>
              <a:schemeClr val="tx2"/>
            </a:solidFill>
            <a:prstDash val="solid"/>
          </a:ln>
        </p:spPr>
      </p:sp>
      <p:sp>
        <p:nvSpPr>
          <p:cNvPr id="19" name="Text 17"/>
          <p:cNvSpPr txBox="1"/>
          <p:nvPr/>
        </p:nvSpPr>
        <p:spPr>
          <a:xfrm>
            <a:off x="4654296" y="1444752"/>
            <a:ext cx="1216152" cy="320040"/>
          </a:xfrm>
          <a:prstGeom prst="rect">
            <a:avLst/>
          </a:prstGeom>
          <a:noFill/>
          <a:ln/>
        </p:spPr>
        <p:txBody>
          <a:bodyPr wrap="square" lIns="0" tIns="0" rIns="0" bIns="0" rtlCol="0" anchor="ctr"/>
          <a:lstStyle/>
          <a:p>
            <a:pPr algn="ctr" indent="0" marL="0">
              <a:buNone/>
            </a:pPr>
            <a:r>
              <a:rPr lang="en-US" sz="1400" b="1" dirty="0">
                <a:solidFill>
                  <a:schemeClr val="accent1"/>
                </a:solidFill>
              </a:rPr>
              <a:t>4</a:t>
            </a:r>
            <a:endParaRPr lang="en-US" sz="1400" dirty="0"/>
          </a:p>
        </p:txBody>
      </p:sp>
      <p:sp>
        <p:nvSpPr>
          <p:cNvPr id="20" name="Text 18"/>
          <p:cNvSpPr txBox="1"/>
          <p:nvPr/>
        </p:nvSpPr>
        <p:spPr>
          <a:xfrm>
            <a:off x="4700016" y="1755648"/>
            <a:ext cx="1124712" cy="384048"/>
          </a:xfrm>
          <a:prstGeom prst="rect">
            <a:avLst/>
          </a:prstGeom>
          <a:noFill/>
          <a:ln/>
        </p:spPr>
        <p:txBody>
          <a:bodyPr wrap="square" lIns="0" tIns="0" rIns="0" bIns="0" rtlCol="0" anchor="ctr"/>
          <a:lstStyle/>
          <a:p>
            <a:pPr algn="ctr" indent="0" marL="0">
              <a:buNone/>
            </a:pPr>
            <a:r>
              <a:rPr lang="en-US" sz="1300" b="1" dirty="0">
                <a:solidFill>
                  <a:schemeClr val="bg1"/>
                </a:solidFill>
              </a:rPr>
              <a:t>Blackboard</a:t>
            </a:r>
            <a:endParaRPr lang="en-US" sz="1300" dirty="0"/>
          </a:p>
        </p:txBody>
      </p:sp>
      <p:sp>
        <p:nvSpPr>
          <p:cNvPr id="21" name="Text 19"/>
          <p:cNvSpPr txBox="1"/>
          <p:nvPr/>
        </p:nvSpPr>
        <p:spPr>
          <a:xfrm>
            <a:off x="4700016" y="2121408"/>
            <a:ext cx="1124712" cy="329184"/>
          </a:xfrm>
          <a:prstGeom prst="rect">
            <a:avLst/>
          </a:prstGeom>
          <a:noFill/>
          <a:ln/>
        </p:spPr>
        <p:txBody>
          <a:bodyPr wrap="square" lIns="0" tIns="0" rIns="0" bIns="0" rtlCol="0" anchor="t"/>
          <a:lstStyle/>
          <a:p>
            <a:pPr algn="ctr" indent="0" marL="0">
              <a:buNone/>
            </a:pPr>
            <a:r>
              <a:rPr lang="en-US" sz="1000" dirty="0">
                <a:solidFill>
                  <a:schemeClr val="accent5"/>
                </a:solidFill>
              </a:rPr>
              <a:t>results stored</a:t>
            </a:r>
            <a:endParaRPr lang="en-US" sz="1000" dirty="0"/>
          </a:p>
        </p:txBody>
      </p:sp>
      <p:sp>
        <p:nvSpPr>
          <p:cNvPr id="22" name="arrow"/>
          <p:cNvSpPr/>
          <p:nvPr/>
        </p:nvSpPr>
        <p:spPr>
          <a:xfrm rot="5400000">
            <a:off x="5907024" y="1847088"/>
            <a:ext cx="109728" cy="182880"/>
          </a:xfrm>
          <a:prstGeom prst="rtTriangle">
            <a:avLst/>
          </a:prstGeom>
          <a:solidFill>
            <a:schemeClr val="accent4"/>
          </a:solidFill>
          <a:ln w="12700">
            <a:solidFill>
              <a:schemeClr val="accent4"/>
            </a:solidFill>
            <a:prstDash val="solid"/>
          </a:ln>
        </p:spPr>
      </p:sp>
      <p:sp>
        <p:nvSpPr>
          <p:cNvPr id="23" name="flow step"/>
          <p:cNvSpPr/>
          <p:nvPr/>
        </p:nvSpPr>
        <p:spPr>
          <a:xfrm>
            <a:off x="6053328" y="1371600"/>
            <a:ext cx="1216152" cy="1143000"/>
          </a:xfrm>
          <a:prstGeom prst="roundRect">
            <a:avLst>
              <a:gd name="adj" fmla="val 6400"/>
            </a:avLst>
          </a:prstGeom>
          <a:solidFill>
            <a:schemeClr val="tx2"/>
          </a:solidFill>
          <a:ln w="12700">
            <a:solidFill>
              <a:schemeClr val="tx2"/>
            </a:solidFill>
            <a:prstDash val="solid"/>
          </a:ln>
        </p:spPr>
      </p:sp>
      <p:sp>
        <p:nvSpPr>
          <p:cNvPr id="24" name="Text 22"/>
          <p:cNvSpPr txBox="1"/>
          <p:nvPr/>
        </p:nvSpPr>
        <p:spPr>
          <a:xfrm>
            <a:off x="6053328" y="1444752"/>
            <a:ext cx="1216152" cy="320040"/>
          </a:xfrm>
          <a:prstGeom prst="rect">
            <a:avLst/>
          </a:prstGeom>
          <a:noFill/>
          <a:ln/>
        </p:spPr>
        <p:txBody>
          <a:bodyPr wrap="square" lIns="0" tIns="0" rIns="0" bIns="0" rtlCol="0" anchor="ctr"/>
          <a:lstStyle/>
          <a:p>
            <a:pPr algn="ctr" indent="0" marL="0">
              <a:buNone/>
            </a:pPr>
            <a:r>
              <a:rPr lang="en-US" sz="1400" b="1" dirty="0">
                <a:solidFill>
                  <a:schemeClr val="accent1"/>
                </a:solidFill>
              </a:rPr>
              <a:t>5</a:t>
            </a:r>
            <a:endParaRPr lang="en-US" sz="1400" dirty="0"/>
          </a:p>
        </p:txBody>
      </p:sp>
      <p:sp>
        <p:nvSpPr>
          <p:cNvPr id="25" name="Text 23"/>
          <p:cNvSpPr txBox="1"/>
          <p:nvPr/>
        </p:nvSpPr>
        <p:spPr>
          <a:xfrm>
            <a:off x="6099048" y="1755648"/>
            <a:ext cx="1124712" cy="384048"/>
          </a:xfrm>
          <a:prstGeom prst="rect">
            <a:avLst/>
          </a:prstGeom>
          <a:noFill/>
          <a:ln/>
        </p:spPr>
        <p:txBody>
          <a:bodyPr wrap="square" lIns="0" tIns="0" rIns="0" bIns="0" rtlCol="0" anchor="ctr"/>
          <a:lstStyle/>
          <a:p>
            <a:pPr algn="ctr" indent="0" marL="0">
              <a:buNone/>
            </a:pPr>
            <a:r>
              <a:rPr lang="en-US" sz="1300" b="1" dirty="0">
                <a:solidFill>
                  <a:schemeClr val="bg1"/>
                </a:solidFill>
              </a:rPr>
              <a:t>Review</a:t>
            </a:r>
            <a:endParaRPr lang="en-US" sz="1300" dirty="0"/>
          </a:p>
        </p:txBody>
      </p:sp>
      <p:sp>
        <p:nvSpPr>
          <p:cNvPr id="26" name="Text 24"/>
          <p:cNvSpPr txBox="1"/>
          <p:nvPr/>
        </p:nvSpPr>
        <p:spPr>
          <a:xfrm>
            <a:off x="6099048" y="2121408"/>
            <a:ext cx="1124712" cy="329184"/>
          </a:xfrm>
          <a:prstGeom prst="rect">
            <a:avLst/>
          </a:prstGeom>
          <a:noFill/>
          <a:ln/>
        </p:spPr>
        <p:txBody>
          <a:bodyPr wrap="square" lIns="0" tIns="0" rIns="0" bIns="0" rtlCol="0" anchor="t"/>
          <a:lstStyle/>
          <a:p>
            <a:pPr algn="ctr" indent="0" marL="0">
              <a:buNone/>
            </a:pPr>
            <a:r>
              <a:rPr lang="en-US" sz="1000" dirty="0">
                <a:solidFill>
                  <a:schemeClr val="accent5"/>
                </a:solidFill>
              </a:rPr>
              <a:t>tree, timeline, search</a:t>
            </a:r>
            <a:endParaRPr lang="en-US" sz="1000" dirty="0"/>
          </a:p>
        </p:txBody>
      </p:sp>
      <p:sp>
        <p:nvSpPr>
          <p:cNvPr id="27" name="arrow"/>
          <p:cNvSpPr/>
          <p:nvPr/>
        </p:nvSpPr>
        <p:spPr>
          <a:xfrm rot="5400000">
            <a:off x="7306056" y="1847088"/>
            <a:ext cx="109728" cy="182880"/>
          </a:xfrm>
          <a:prstGeom prst="rtTriangle">
            <a:avLst/>
          </a:prstGeom>
          <a:solidFill>
            <a:schemeClr val="accent4"/>
          </a:solidFill>
          <a:ln w="12700">
            <a:solidFill>
              <a:schemeClr val="accent4"/>
            </a:solidFill>
            <a:prstDash val="solid"/>
          </a:ln>
        </p:spPr>
      </p:sp>
      <p:sp>
        <p:nvSpPr>
          <p:cNvPr id="28" name="flow step"/>
          <p:cNvSpPr/>
          <p:nvPr/>
        </p:nvSpPr>
        <p:spPr>
          <a:xfrm>
            <a:off x="7452360" y="1371600"/>
            <a:ext cx="1216152" cy="1143000"/>
          </a:xfrm>
          <a:prstGeom prst="roundRect">
            <a:avLst>
              <a:gd name="adj" fmla="val 6400"/>
            </a:avLst>
          </a:prstGeom>
          <a:solidFill>
            <a:schemeClr val="tx2"/>
          </a:solidFill>
          <a:ln w="12700">
            <a:solidFill>
              <a:schemeClr val="tx2"/>
            </a:solidFill>
            <a:prstDash val="solid"/>
          </a:ln>
        </p:spPr>
      </p:sp>
      <p:sp>
        <p:nvSpPr>
          <p:cNvPr id="29" name="Text 27"/>
          <p:cNvSpPr txBox="1"/>
          <p:nvPr/>
        </p:nvSpPr>
        <p:spPr>
          <a:xfrm>
            <a:off x="7452360" y="1444752"/>
            <a:ext cx="1216152" cy="320040"/>
          </a:xfrm>
          <a:prstGeom prst="rect">
            <a:avLst/>
          </a:prstGeom>
          <a:noFill/>
          <a:ln/>
        </p:spPr>
        <p:txBody>
          <a:bodyPr wrap="square" lIns="0" tIns="0" rIns="0" bIns="0" rtlCol="0" anchor="ctr"/>
          <a:lstStyle/>
          <a:p>
            <a:pPr algn="ctr" indent="0" marL="0">
              <a:buNone/>
            </a:pPr>
            <a:r>
              <a:rPr lang="en-US" sz="1400" b="1" dirty="0">
                <a:solidFill>
                  <a:schemeClr val="accent1"/>
                </a:solidFill>
              </a:rPr>
              <a:t>6</a:t>
            </a:r>
            <a:endParaRPr lang="en-US" sz="1400" dirty="0"/>
          </a:p>
        </p:txBody>
      </p:sp>
      <p:sp>
        <p:nvSpPr>
          <p:cNvPr id="30" name="Text 28"/>
          <p:cNvSpPr txBox="1"/>
          <p:nvPr/>
        </p:nvSpPr>
        <p:spPr>
          <a:xfrm>
            <a:off x="7498080" y="1755648"/>
            <a:ext cx="1124712" cy="384048"/>
          </a:xfrm>
          <a:prstGeom prst="rect">
            <a:avLst/>
          </a:prstGeom>
          <a:noFill/>
          <a:ln/>
        </p:spPr>
        <p:txBody>
          <a:bodyPr wrap="square" lIns="0" tIns="0" rIns="0" bIns="0" rtlCol="0" anchor="ctr"/>
          <a:lstStyle/>
          <a:p>
            <a:pPr algn="ctr" indent="0" marL="0">
              <a:buNone/>
            </a:pPr>
            <a:r>
              <a:rPr lang="en-US" sz="1300" b="1" dirty="0">
                <a:solidFill>
                  <a:schemeClr val="bg1"/>
                </a:solidFill>
              </a:rPr>
              <a:t>Report</a:t>
            </a:r>
            <a:endParaRPr lang="en-US" sz="1300" dirty="0"/>
          </a:p>
        </p:txBody>
      </p:sp>
      <p:sp>
        <p:nvSpPr>
          <p:cNvPr id="31" name="Text 29"/>
          <p:cNvSpPr txBox="1"/>
          <p:nvPr/>
        </p:nvSpPr>
        <p:spPr>
          <a:xfrm>
            <a:off x="7498080" y="2121408"/>
            <a:ext cx="1124712" cy="329184"/>
          </a:xfrm>
          <a:prstGeom prst="rect">
            <a:avLst/>
          </a:prstGeom>
          <a:noFill/>
          <a:ln/>
        </p:spPr>
        <p:txBody>
          <a:bodyPr wrap="square" lIns="0" tIns="0" rIns="0" bIns="0" rtlCol="0" anchor="t"/>
          <a:lstStyle/>
          <a:p>
            <a:pPr algn="ctr" indent="0" marL="0">
              <a:buNone/>
            </a:pPr>
            <a:r>
              <a:rPr lang="en-US" sz="1000" dirty="0">
                <a:solidFill>
                  <a:schemeClr val="accent5"/>
                </a:solidFill>
              </a:rPr>
              <a:t>HTML / Excel / KML</a:t>
            </a:r>
            <a:endParaRPr lang="en-US" sz="1000" dirty="0"/>
          </a:p>
        </p:txBody>
      </p:sp>
      <p:sp>
        <p:nvSpPr>
          <p:cNvPr id="32" name="Text 30"/>
          <p:cNvSpPr txBox="1"/>
          <p:nvPr/>
        </p:nvSpPr>
        <p:spPr>
          <a:xfrm>
            <a:off x="457200" y="2880360"/>
            <a:ext cx="8229600" cy="320040"/>
          </a:xfrm>
          <a:prstGeom prst="rect">
            <a:avLst/>
          </a:prstGeom>
          <a:noFill/>
          <a:ln/>
        </p:spPr>
        <p:txBody>
          <a:bodyPr wrap="square" lIns="0" tIns="0" rIns="0" bIns="0" rtlCol="0" anchor="ctr"/>
          <a:lstStyle/>
          <a:p>
            <a:pPr indent="0" marL="0">
              <a:buNone/>
            </a:pPr>
            <a:r>
              <a:rPr lang="en-US" sz="1500" b="1" dirty="0">
                <a:solidFill>
                  <a:schemeClr val="tx2"/>
                </a:solidFill>
              </a:rPr>
              <a:t>Ingest modules we use today</a:t>
            </a:r>
            <a:endParaRPr lang="en-US" sz="1500" dirty="0"/>
          </a:p>
        </p:txBody>
      </p:sp>
      <p:sp>
        <p:nvSpPr>
          <p:cNvPr id="33" name="module chip"/>
          <p:cNvSpPr/>
          <p:nvPr/>
        </p:nvSpPr>
        <p:spPr>
          <a:xfrm>
            <a:off x="457200" y="3291840"/>
            <a:ext cx="1938528" cy="420624"/>
          </a:xfrm>
          <a:prstGeom prst="roundRect">
            <a:avLst>
              <a:gd name="adj" fmla="val 13043"/>
            </a:avLst>
          </a:prstGeom>
          <a:solidFill>
            <a:schemeClr val="bg2"/>
          </a:solidFill>
          <a:ln w="12700">
            <a:solidFill>
              <a:schemeClr val="bg2"/>
            </a:solidFill>
            <a:prstDash val="solid"/>
          </a:ln>
        </p:spPr>
      </p:sp>
      <p:sp>
        <p:nvSpPr>
          <p:cNvPr id="34" name="Text 32"/>
          <p:cNvSpPr txBox="1"/>
          <p:nvPr/>
        </p:nvSpPr>
        <p:spPr>
          <a:xfrm>
            <a:off x="457200" y="3291840"/>
            <a:ext cx="1938528" cy="420624"/>
          </a:xfrm>
          <a:prstGeom prst="rect">
            <a:avLst/>
          </a:prstGeom>
          <a:noFill/>
          <a:ln/>
        </p:spPr>
        <p:txBody>
          <a:bodyPr wrap="square" lIns="0" tIns="0" rIns="0" bIns="0" rtlCol="0" anchor="ctr"/>
          <a:lstStyle/>
          <a:p>
            <a:pPr algn="ctr" indent="0" marL="0">
              <a:buNone/>
            </a:pPr>
            <a:r>
              <a:rPr lang="en-US" sz="1100" dirty="0">
                <a:solidFill>
                  <a:schemeClr val="tx2"/>
                </a:solidFill>
              </a:rPr>
              <a:t>File Type Identification</a:t>
            </a:r>
            <a:endParaRPr lang="en-US" sz="1100" dirty="0"/>
          </a:p>
        </p:txBody>
      </p:sp>
      <p:sp>
        <p:nvSpPr>
          <p:cNvPr id="35" name="module chip"/>
          <p:cNvSpPr/>
          <p:nvPr/>
        </p:nvSpPr>
        <p:spPr>
          <a:xfrm>
            <a:off x="2532888" y="3291840"/>
            <a:ext cx="1938528" cy="420624"/>
          </a:xfrm>
          <a:prstGeom prst="roundRect">
            <a:avLst>
              <a:gd name="adj" fmla="val 13043"/>
            </a:avLst>
          </a:prstGeom>
          <a:solidFill>
            <a:schemeClr val="bg2"/>
          </a:solidFill>
          <a:ln w="12700">
            <a:solidFill>
              <a:schemeClr val="bg2"/>
            </a:solidFill>
            <a:prstDash val="solid"/>
          </a:ln>
        </p:spPr>
      </p:sp>
      <p:sp>
        <p:nvSpPr>
          <p:cNvPr id="36" name="Text 34"/>
          <p:cNvSpPr txBox="1"/>
          <p:nvPr/>
        </p:nvSpPr>
        <p:spPr>
          <a:xfrm>
            <a:off x="2532888" y="3291840"/>
            <a:ext cx="1938528" cy="420624"/>
          </a:xfrm>
          <a:prstGeom prst="rect">
            <a:avLst/>
          </a:prstGeom>
          <a:noFill/>
          <a:ln/>
        </p:spPr>
        <p:txBody>
          <a:bodyPr wrap="square" lIns="0" tIns="0" rIns="0" bIns="0" rtlCol="0" anchor="ctr"/>
          <a:lstStyle/>
          <a:p>
            <a:pPr algn="ctr" indent="0" marL="0">
              <a:buNone/>
            </a:pPr>
            <a:r>
              <a:rPr lang="en-US" sz="1100" dirty="0">
                <a:solidFill>
                  <a:schemeClr val="tx2"/>
                </a:solidFill>
              </a:rPr>
              <a:t>Extension Mismatch Detector</a:t>
            </a:r>
            <a:endParaRPr lang="en-US" sz="1100" dirty="0"/>
          </a:p>
        </p:txBody>
      </p:sp>
      <p:sp>
        <p:nvSpPr>
          <p:cNvPr id="37" name="module chip"/>
          <p:cNvSpPr/>
          <p:nvPr/>
        </p:nvSpPr>
        <p:spPr>
          <a:xfrm>
            <a:off x="4608576" y="3291840"/>
            <a:ext cx="1938528" cy="420624"/>
          </a:xfrm>
          <a:prstGeom prst="roundRect">
            <a:avLst>
              <a:gd name="adj" fmla="val 13043"/>
            </a:avLst>
          </a:prstGeom>
          <a:solidFill>
            <a:schemeClr val="bg2"/>
          </a:solidFill>
          <a:ln w="12700">
            <a:solidFill>
              <a:schemeClr val="bg2"/>
            </a:solidFill>
            <a:prstDash val="solid"/>
          </a:ln>
        </p:spPr>
      </p:sp>
      <p:sp>
        <p:nvSpPr>
          <p:cNvPr id="38" name="Text 36"/>
          <p:cNvSpPr txBox="1"/>
          <p:nvPr/>
        </p:nvSpPr>
        <p:spPr>
          <a:xfrm>
            <a:off x="4608576" y="3291840"/>
            <a:ext cx="1938528" cy="420624"/>
          </a:xfrm>
          <a:prstGeom prst="rect">
            <a:avLst/>
          </a:prstGeom>
          <a:noFill/>
          <a:ln/>
        </p:spPr>
        <p:txBody>
          <a:bodyPr wrap="square" lIns="0" tIns="0" rIns="0" bIns="0" rtlCol="0" anchor="ctr"/>
          <a:lstStyle/>
          <a:p>
            <a:pPr algn="ctr" indent="0" marL="0">
              <a:buNone/>
            </a:pPr>
            <a:r>
              <a:rPr lang="en-US" sz="1100" dirty="0">
                <a:solidFill>
                  <a:schemeClr val="tx2"/>
                </a:solidFill>
              </a:rPr>
              <a:t>Embedded File Extractor</a:t>
            </a:r>
            <a:endParaRPr lang="en-US" sz="1100" dirty="0"/>
          </a:p>
        </p:txBody>
      </p:sp>
      <p:sp>
        <p:nvSpPr>
          <p:cNvPr id="39" name="module chip"/>
          <p:cNvSpPr/>
          <p:nvPr/>
        </p:nvSpPr>
        <p:spPr>
          <a:xfrm>
            <a:off x="6684264" y="3291840"/>
            <a:ext cx="1938528" cy="420624"/>
          </a:xfrm>
          <a:prstGeom prst="roundRect">
            <a:avLst>
              <a:gd name="adj" fmla="val 13043"/>
            </a:avLst>
          </a:prstGeom>
          <a:solidFill>
            <a:schemeClr val="bg2"/>
          </a:solidFill>
          <a:ln w="12700">
            <a:solidFill>
              <a:schemeClr val="bg2"/>
            </a:solidFill>
            <a:prstDash val="solid"/>
          </a:ln>
        </p:spPr>
      </p:sp>
      <p:sp>
        <p:nvSpPr>
          <p:cNvPr id="40" name="Text 38"/>
          <p:cNvSpPr txBox="1"/>
          <p:nvPr/>
        </p:nvSpPr>
        <p:spPr>
          <a:xfrm>
            <a:off x="6684264" y="3291840"/>
            <a:ext cx="1938528" cy="420624"/>
          </a:xfrm>
          <a:prstGeom prst="rect">
            <a:avLst/>
          </a:prstGeom>
          <a:noFill/>
          <a:ln/>
        </p:spPr>
        <p:txBody>
          <a:bodyPr wrap="square" lIns="0" tIns="0" rIns="0" bIns="0" rtlCol="0" anchor="ctr"/>
          <a:lstStyle/>
          <a:p>
            <a:pPr algn="ctr" indent="0" marL="0">
              <a:buNone/>
            </a:pPr>
            <a:r>
              <a:rPr lang="en-US" sz="1100" dirty="0">
                <a:solidFill>
                  <a:schemeClr val="tx2"/>
                </a:solidFill>
              </a:rPr>
              <a:t>Picture Analyzer (EXIF)</a:t>
            </a:r>
            <a:endParaRPr lang="en-US" sz="1100" dirty="0"/>
          </a:p>
        </p:txBody>
      </p:sp>
      <p:sp>
        <p:nvSpPr>
          <p:cNvPr id="41" name="module chip"/>
          <p:cNvSpPr/>
          <p:nvPr/>
        </p:nvSpPr>
        <p:spPr>
          <a:xfrm>
            <a:off x="457200" y="3840480"/>
            <a:ext cx="1938528" cy="420624"/>
          </a:xfrm>
          <a:prstGeom prst="roundRect">
            <a:avLst>
              <a:gd name="adj" fmla="val 13043"/>
            </a:avLst>
          </a:prstGeom>
          <a:solidFill>
            <a:schemeClr val="bg2"/>
          </a:solidFill>
          <a:ln w="12700">
            <a:solidFill>
              <a:schemeClr val="bg2"/>
            </a:solidFill>
            <a:prstDash val="solid"/>
          </a:ln>
        </p:spPr>
      </p:sp>
      <p:sp>
        <p:nvSpPr>
          <p:cNvPr id="42" name="Text 40"/>
          <p:cNvSpPr txBox="1"/>
          <p:nvPr/>
        </p:nvSpPr>
        <p:spPr>
          <a:xfrm>
            <a:off x="457200" y="3840480"/>
            <a:ext cx="1938528" cy="420624"/>
          </a:xfrm>
          <a:prstGeom prst="rect">
            <a:avLst/>
          </a:prstGeom>
          <a:noFill/>
          <a:ln/>
        </p:spPr>
        <p:txBody>
          <a:bodyPr wrap="square" lIns="0" tIns="0" rIns="0" bIns="0" rtlCol="0" anchor="ctr"/>
          <a:lstStyle/>
          <a:p>
            <a:pPr algn="ctr" indent="0" marL="0">
              <a:buNone/>
            </a:pPr>
            <a:r>
              <a:rPr lang="en-US" sz="1100" dirty="0">
                <a:solidFill>
                  <a:schemeClr val="tx2"/>
                </a:solidFill>
              </a:rPr>
              <a:t>Keyword Search</a:t>
            </a:r>
            <a:endParaRPr lang="en-US" sz="1100" dirty="0"/>
          </a:p>
        </p:txBody>
      </p:sp>
      <p:sp>
        <p:nvSpPr>
          <p:cNvPr id="43" name="module chip"/>
          <p:cNvSpPr/>
          <p:nvPr/>
        </p:nvSpPr>
        <p:spPr>
          <a:xfrm>
            <a:off x="2532888" y="3840480"/>
            <a:ext cx="1938528" cy="420624"/>
          </a:xfrm>
          <a:prstGeom prst="roundRect">
            <a:avLst>
              <a:gd name="adj" fmla="val 13043"/>
            </a:avLst>
          </a:prstGeom>
          <a:solidFill>
            <a:schemeClr val="bg2"/>
          </a:solidFill>
          <a:ln w="12700">
            <a:solidFill>
              <a:schemeClr val="bg2"/>
            </a:solidFill>
            <a:prstDash val="solid"/>
          </a:ln>
        </p:spPr>
      </p:sp>
      <p:sp>
        <p:nvSpPr>
          <p:cNvPr id="44" name="Text 42"/>
          <p:cNvSpPr txBox="1"/>
          <p:nvPr/>
        </p:nvSpPr>
        <p:spPr>
          <a:xfrm>
            <a:off x="2532888" y="3840480"/>
            <a:ext cx="1938528" cy="420624"/>
          </a:xfrm>
          <a:prstGeom prst="rect">
            <a:avLst/>
          </a:prstGeom>
          <a:noFill/>
          <a:ln/>
        </p:spPr>
        <p:txBody>
          <a:bodyPr wrap="square" lIns="0" tIns="0" rIns="0" bIns="0" rtlCol="0" anchor="ctr"/>
          <a:lstStyle/>
          <a:p>
            <a:pPr algn="ctr" indent="0" marL="0">
              <a:buNone/>
            </a:pPr>
            <a:r>
              <a:rPr lang="en-US" sz="1100" dirty="0">
                <a:solidFill>
                  <a:schemeClr val="tx2"/>
                </a:solidFill>
              </a:rPr>
              <a:t>PhotoRec Carver</a:t>
            </a:r>
            <a:endParaRPr lang="en-US" sz="1100" dirty="0"/>
          </a:p>
        </p:txBody>
      </p:sp>
      <p:sp>
        <p:nvSpPr>
          <p:cNvPr id="45" name="module chip"/>
          <p:cNvSpPr/>
          <p:nvPr/>
        </p:nvSpPr>
        <p:spPr>
          <a:xfrm>
            <a:off x="4608576" y="3840480"/>
            <a:ext cx="1938528" cy="420624"/>
          </a:xfrm>
          <a:prstGeom prst="roundRect">
            <a:avLst>
              <a:gd name="adj" fmla="val 13043"/>
            </a:avLst>
          </a:prstGeom>
          <a:solidFill>
            <a:schemeClr val="bg2"/>
          </a:solidFill>
          <a:ln w="12700">
            <a:solidFill>
              <a:schemeClr val="bg2"/>
            </a:solidFill>
            <a:prstDash val="solid"/>
          </a:ln>
        </p:spPr>
      </p:sp>
      <p:sp>
        <p:nvSpPr>
          <p:cNvPr id="46" name="Text 44"/>
          <p:cNvSpPr txBox="1"/>
          <p:nvPr/>
        </p:nvSpPr>
        <p:spPr>
          <a:xfrm>
            <a:off x="4608576" y="3840480"/>
            <a:ext cx="1938528" cy="420624"/>
          </a:xfrm>
          <a:prstGeom prst="rect">
            <a:avLst/>
          </a:prstGeom>
          <a:noFill/>
          <a:ln/>
        </p:spPr>
        <p:txBody>
          <a:bodyPr wrap="square" lIns="0" tIns="0" rIns="0" bIns="0" rtlCol="0" anchor="ctr"/>
          <a:lstStyle/>
          <a:p>
            <a:pPr algn="ctr" indent="0" marL="0">
              <a:buNone/>
            </a:pPr>
            <a:r>
              <a:rPr lang="en-US" sz="1100" dirty="0">
                <a:solidFill>
                  <a:schemeClr val="tx2"/>
                </a:solidFill>
              </a:rPr>
              <a:t>Data Source Integrity</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Where Autopsy is used</a:t>
            </a:r>
            <a:endParaRPr lang="en-US" sz="2800" dirty="0"/>
          </a:p>
        </p:txBody>
      </p:sp>
      <p:sp>
        <p:nvSpPr>
          <p:cNvPr id="3" name="app card"/>
          <p:cNvSpPr/>
          <p:nvPr/>
        </p:nvSpPr>
        <p:spPr>
          <a:xfrm>
            <a:off x="457200" y="1097280"/>
            <a:ext cx="2606040" cy="1600200"/>
          </a:xfrm>
          <a:prstGeom prst="roundRect">
            <a:avLst>
              <a:gd name="adj" fmla="val 4571"/>
            </a:avLst>
          </a:prstGeom>
          <a:solidFill>
            <a:schemeClr val="bg2"/>
          </a:solidFill>
          <a:ln w="12700">
            <a:solidFill>
              <a:schemeClr val="bg2"/>
            </a:solidFill>
            <a:prstDash val="solid"/>
          </a:ln>
        </p:spPr>
      </p:sp>
      <p:sp>
        <p:nvSpPr>
          <p:cNvPr id="4" name="icon circle"/>
          <p:cNvSpPr/>
          <p:nvPr/>
        </p:nvSpPr>
        <p:spPr>
          <a:xfrm>
            <a:off x="640080" y="1298448"/>
            <a:ext cx="566928" cy="566928"/>
          </a:xfrm>
          <a:prstGeom prst="ellipse">
            <a:avLst/>
          </a:prstGeom>
          <a:solidFill>
            <a:schemeClr val="tx2"/>
          </a:solidFill>
          <a:ln w="12700">
            <a:solidFill>
              <a:schemeClr val="tx2"/>
            </a:solidFill>
            <a:prstDash val="solid"/>
          </a:ln>
        </p:spPr>
      </p:sp>
      <p:pic>
        <p:nvPicPr>
          <p:cNvPr id="5" name="icon" descr="preencoded.png">    </p:cNvPr>
          <p:cNvPicPr>
            <a:picLocks noChangeAspect="1"/>
          </p:cNvPicPr>
          <p:nvPr/>
        </p:nvPicPr>
        <p:blipFill>
          <a:blip r:embed="rId1"/>
          <a:stretch>
            <a:fillRect/>
          </a:stretch>
        </p:blipFill>
        <p:spPr>
          <a:xfrm>
            <a:off x="768096" y="1426464"/>
            <a:ext cx="310896" cy="310896"/>
          </a:xfrm>
          <a:prstGeom prst="rect">
            <a:avLst/>
          </a:prstGeom>
        </p:spPr>
      </p:pic>
      <p:sp>
        <p:nvSpPr>
          <p:cNvPr id="6" name="Text 3"/>
          <p:cNvSpPr txBox="1"/>
          <p:nvPr/>
        </p:nvSpPr>
        <p:spPr>
          <a:xfrm>
            <a:off x="640080" y="1965960"/>
            <a:ext cx="2286000" cy="320040"/>
          </a:xfrm>
          <a:prstGeom prst="rect">
            <a:avLst/>
          </a:prstGeom>
          <a:noFill/>
          <a:ln/>
        </p:spPr>
        <p:txBody>
          <a:bodyPr wrap="square" lIns="0" tIns="0" rIns="0" bIns="0" rtlCol="0" anchor="ctr"/>
          <a:lstStyle/>
          <a:p>
            <a:pPr indent="0" marL="0">
              <a:buNone/>
            </a:pPr>
            <a:r>
              <a:rPr lang="en-US" sz="1400" b="1" dirty="0">
                <a:solidFill>
                  <a:schemeClr val="tx2"/>
                </a:solidFill>
              </a:rPr>
              <a:t>Law enforcement</a:t>
            </a:r>
            <a:endParaRPr lang="en-US" sz="1400" dirty="0"/>
          </a:p>
        </p:txBody>
      </p:sp>
      <p:sp>
        <p:nvSpPr>
          <p:cNvPr id="7" name="Text 4"/>
          <p:cNvSpPr txBox="1"/>
          <p:nvPr/>
        </p:nvSpPr>
        <p:spPr>
          <a:xfrm>
            <a:off x="640080" y="2267712"/>
            <a:ext cx="2286000" cy="320040"/>
          </a:xfrm>
          <a:prstGeom prst="rect">
            <a:avLst/>
          </a:prstGeom>
          <a:noFill/>
          <a:ln/>
        </p:spPr>
        <p:txBody>
          <a:bodyPr wrap="square" lIns="0" tIns="0" rIns="0" bIns="0" rtlCol="0" anchor="ctr"/>
          <a:lstStyle/>
          <a:p>
            <a:pPr indent="0" marL="0">
              <a:buNone/>
            </a:pPr>
            <a:r>
              <a:rPr lang="en-US" sz="1200" dirty="0">
                <a:solidFill>
                  <a:schemeClr val="accent4"/>
                </a:solidFill>
              </a:rPr>
              <a:t>Seized PCs, drives and memory cards</a:t>
            </a:r>
            <a:endParaRPr lang="en-US" sz="1200" dirty="0"/>
          </a:p>
        </p:txBody>
      </p:sp>
      <p:sp>
        <p:nvSpPr>
          <p:cNvPr id="8" name="app card"/>
          <p:cNvSpPr/>
          <p:nvPr/>
        </p:nvSpPr>
        <p:spPr>
          <a:xfrm>
            <a:off x="3246120" y="1097280"/>
            <a:ext cx="2606040" cy="1600200"/>
          </a:xfrm>
          <a:prstGeom prst="roundRect">
            <a:avLst>
              <a:gd name="adj" fmla="val 4571"/>
            </a:avLst>
          </a:prstGeom>
          <a:solidFill>
            <a:schemeClr val="bg2"/>
          </a:solidFill>
          <a:ln w="12700">
            <a:solidFill>
              <a:schemeClr val="bg2"/>
            </a:solidFill>
            <a:prstDash val="solid"/>
          </a:ln>
        </p:spPr>
      </p:sp>
      <p:sp>
        <p:nvSpPr>
          <p:cNvPr id="9" name="icon circle"/>
          <p:cNvSpPr/>
          <p:nvPr/>
        </p:nvSpPr>
        <p:spPr>
          <a:xfrm>
            <a:off x="3429000" y="1298448"/>
            <a:ext cx="566928" cy="566928"/>
          </a:xfrm>
          <a:prstGeom prst="ellipse">
            <a:avLst/>
          </a:prstGeom>
          <a:solidFill>
            <a:schemeClr val="tx2"/>
          </a:solidFill>
          <a:ln w="12700">
            <a:solidFill>
              <a:schemeClr val="tx2"/>
            </a:solidFill>
            <a:prstDash val="solid"/>
          </a:ln>
        </p:spPr>
      </p:sp>
      <p:pic>
        <p:nvPicPr>
          <p:cNvPr id="10" name="icon" descr="preencoded.png">    </p:cNvPr>
          <p:cNvPicPr>
            <a:picLocks noChangeAspect="1"/>
          </p:cNvPicPr>
          <p:nvPr/>
        </p:nvPicPr>
        <p:blipFill>
          <a:blip r:embed="rId2"/>
          <a:stretch>
            <a:fillRect/>
          </a:stretch>
        </p:blipFill>
        <p:spPr>
          <a:xfrm>
            <a:off x="3557016" y="1426464"/>
            <a:ext cx="310896" cy="310896"/>
          </a:xfrm>
          <a:prstGeom prst="rect">
            <a:avLst/>
          </a:prstGeom>
        </p:spPr>
      </p:pic>
      <p:sp>
        <p:nvSpPr>
          <p:cNvPr id="11" name="Text 7"/>
          <p:cNvSpPr txBox="1"/>
          <p:nvPr/>
        </p:nvSpPr>
        <p:spPr>
          <a:xfrm>
            <a:off x="3429000" y="1965960"/>
            <a:ext cx="2286000" cy="320040"/>
          </a:xfrm>
          <a:prstGeom prst="rect">
            <a:avLst/>
          </a:prstGeom>
          <a:noFill/>
          <a:ln/>
        </p:spPr>
        <p:txBody>
          <a:bodyPr wrap="square" lIns="0" tIns="0" rIns="0" bIns="0" rtlCol="0" anchor="ctr"/>
          <a:lstStyle/>
          <a:p>
            <a:pPr indent="0" marL="0">
              <a:buNone/>
            </a:pPr>
            <a:r>
              <a:rPr lang="en-US" sz="1400" b="1" dirty="0">
                <a:solidFill>
                  <a:schemeClr val="tx2"/>
                </a:solidFill>
              </a:rPr>
              <a:t>Corporate / insider threat</a:t>
            </a:r>
            <a:endParaRPr lang="en-US" sz="1400" dirty="0"/>
          </a:p>
        </p:txBody>
      </p:sp>
      <p:sp>
        <p:nvSpPr>
          <p:cNvPr id="12" name="Text 8"/>
          <p:cNvSpPr txBox="1"/>
          <p:nvPr/>
        </p:nvSpPr>
        <p:spPr>
          <a:xfrm>
            <a:off x="3429000" y="2267712"/>
            <a:ext cx="2286000" cy="320040"/>
          </a:xfrm>
          <a:prstGeom prst="rect">
            <a:avLst/>
          </a:prstGeom>
          <a:noFill/>
          <a:ln/>
        </p:spPr>
        <p:txBody>
          <a:bodyPr wrap="square" lIns="0" tIns="0" rIns="0" bIns="0" rtlCol="0" anchor="ctr"/>
          <a:lstStyle/>
          <a:p>
            <a:pPr indent="0" marL="0">
              <a:buNone/>
            </a:pPr>
            <a:r>
              <a:rPr lang="en-US" sz="1200" dirty="0">
                <a:solidFill>
                  <a:schemeClr val="accent4"/>
                </a:solidFill>
              </a:rPr>
              <a:t>IP theft and data-leak cases</a:t>
            </a:r>
            <a:endParaRPr lang="en-US" sz="1200" dirty="0"/>
          </a:p>
        </p:txBody>
      </p:sp>
      <p:sp>
        <p:nvSpPr>
          <p:cNvPr id="13" name="app card"/>
          <p:cNvSpPr/>
          <p:nvPr/>
        </p:nvSpPr>
        <p:spPr>
          <a:xfrm>
            <a:off x="6035040" y="1097280"/>
            <a:ext cx="2606040" cy="1600200"/>
          </a:xfrm>
          <a:prstGeom prst="roundRect">
            <a:avLst>
              <a:gd name="adj" fmla="val 4571"/>
            </a:avLst>
          </a:prstGeom>
          <a:solidFill>
            <a:schemeClr val="bg2"/>
          </a:solidFill>
          <a:ln w="12700">
            <a:solidFill>
              <a:schemeClr val="bg2"/>
            </a:solidFill>
            <a:prstDash val="solid"/>
          </a:ln>
        </p:spPr>
      </p:sp>
      <p:sp>
        <p:nvSpPr>
          <p:cNvPr id="14" name="icon circle"/>
          <p:cNvSpPr/>
          <p:nvPr/>
        </p:nvSpPr>
        <p:spPr>
          <a:xfrm>
            <a:off x="6217920" y="1298448"/>
            <a:ext cx="566928" cy="566928"/>
          </a:xfrm>
          <a:prstGeom prst="ellipse">
            <a:avLst/>
          </a:prstGeom>
          <a:solidFill>
            <a:schemeClr val="tx2"/>
          </a:solidFill>
          <a:ln w="12700">
            <a:solidFill>
              <a:schemeClr val="tx2"/>
            </a:solidFill>
            <a:prstDash val="solid"/>
          </a:ln>
        </p:spPr>
      </p:sp>
      <p:pic>
        <p:nvPicPr>
          <p:cNvPr id="15" name="icon" descr="preencoded.png">    </p:cNvPr>
          <p:cNvPicPr>
            <a:picLocks noChangeAspect="1"/>
          </p:cNvPicPr>
          <p:nvPr/>
        </p:nvPicPr>
        <p:blipFill>
          <a:blip r:embed="rId3"/>
          <a:stretch>
            <a:fillRect/>
          </a:stretch>
        </p:blipFill>
        <p:spPr>
          <a:xfrm>
            <a:off x="6345936" y="1426464"/>
            <a:ext cx="310896" cy="310896"/>
          </a:xfrm>
          <a:prstGeom prst="rect">
            <a:avLst/>
          </a:prstGeom>
        </p:spPr>
      </p:pic>
      <p:sp>
        <p:nvSpPr>
          <p:cNvPr id="16" name="Text 11"/>
          <p:cNvSpPr txBox="1"/>
          <p:nvPr/>
        </p:nvSpPr>
        <p:spPr>
          <a:xfrm>
            <a:off x="6217920" y="1965960"/>
            <a:ext cx="2286000" cy="320040"/>
          </a:xfrm>
          <a:prstGeom prst="rect">
            <a:avLst/>
          </a:prstGeom>
          <a:noFill/>
          <a:ln/>
        </p:spPr>
        <p:txBody>
          <a:bodyPr wrap="square" lIns="0" tIns="0" rIns="0" bIns="0" rtlCol="0" anchor="ctr"/>
          <a:lstStyle/>
          <a:p>
            <a:pPr indent="0" marL="0">
              <a:buNone/>
            </a:pPr>
            <a:r>
              <a:rPr lang="en-US" sz="1400" b="1" dirty="0">
                <a:solidFill>
                  <a:schemeClr val="tx2"/>
                </a:solidFill>
              </a:rPr>
              <a:t>Incident response</a:t>
            </a:r>
            <a:endParaRPr lang="en-US" sz="1400" dirty="0"/>
          </a:p>
        </p:txBody>
      </p:sp>
      <p:sp>
        <p:nvSpPr>
          <p:cNvPr id="17" name="Text 12"/>
          <p:cNvSpPr txBox="1"/>
          <p:nvPr/>
        </p:nvSpPr>
        <p:spPr>
          <a:xfrm>
            <a:off x="6217920" y="2267712"/>
            <a:ext cx="2286000" cy="320040"/>
          </a:xfrm>
          <a:prstGeom prst="rect">
            <a:avLst/>
          </a:prstGeom>
          <a:noFill/>
          <a:ln/>
        </p:spPr>
        <p:txBody>
          <a:bodyPr wrap="square" lIns="0" tIns="0" rIns="0" bIns="0" rtlCol="0" anchor="ctr"/>
          <a:lstStyle/>
          <a:p>
            <a:pPr indent="0" marL="0">
              <a:buNone/>
            </a:pPr>
            <a:r>
              <a:rPr lang="en-US" sz="1200" dirty="0">
                <a:solidFill>
                  <a:schemeClr val="accent4"/>
                </a:solidFill>
              </a:rPr>
              <a:t>Triage of compromised hosts</a:t>
            </a:r>
            <a:endParaRPr lang="en-US" sz="1200" dirty="0"/>
          </a:p>
        </p:txBody>
      </p:sp>
      <p:sp>
        <p:nvSpPr>
          <p:cNvPr id="18" name="app card"/>
          <p:cNvSpPr/>
          <p:nvPr/>
        </p:nvSpPr>
        <p:spPr>
          <a:xfrm>
            <a:off x="457200" y="2880360"/>
            <a:ext cx="2606040" cy="1600200"/>
          </a:xfrm>
          <a:prstGeom prst="roundRect">
            <a:avLst>
              <a:gd name="adj" fmla="val 4571"/>
            </a:avLst>
          </a:prstGeom>
          <a:solidFill>
            <a:schemeClr val="bg2"/>
          </a:solidFill>
          <a:ln w="12700">
            <a:solidFill>
              <a:schemeClr val="bg2"/>
            </a:solidFill>
            <a:prstDash val="solid"/>
          </a:ln>
        </p:spPr>
      </p:sp>
      <p:sp>
        <p:nvSpPr>
          <p:cNvPr id="19" name="icon circle"/>
          <p:cNvSpPr/>
          <p:nvPr/>
        </p:nvSpPr>
        <p:spPr>
          <a:xfrm>
            <a:off x="640080" y="3081528"/>
            <a:ext cx="566928" cy="566928"/>
          </a:xfrm>
          <a:prstGeom prst="ellipse">
            <a:avLst/>
          </a:prstGeom>
          <a:solidFill>
            <a:schemeClr val="tx2"/>
          </a:solidFill>
          <a:ln w="12700">
            <a:solidFill>
              <a:schemeClr val="tx2"/>
            </a:solidFill>
            <a:prstDash val="solid"/>
          </a:ln>
        </p:spPr>
      </p:sp>
      <p:pic>
        <p:nvPicPr>
          <p:cNvPr id="20" name="icon" descr="preencoded.png">    </p:cNvPr>
          <p:cNvPicPr>
            <a:picLocks noChangeAspect="1"/>
          </p:cNvPicPr>
          <p:nvPr/>
        </p:nvPicPr>
        <p:blipFill>
          <a:blip r:embed="rId4"/>
          <a:stretch>
            <a:fillRect/>
          </a:stretch>
        </p:blipFill>
        <p:spPr>
          <a:xfrm>
            <a:off x="768096" y="3209544"/>
            <a:ext cx="310896" cy="310896"/>
          </a:xfrm>
          <a:prstGeom prst="rect">
            <a:avLst/>
          </a:prstGeom>
        </p:spPr>
      </p:pic>
      <p:sp>
        <p:nvSpPr>
          <p:cNvPr id="21" name="Text 15"/>
          <p:cNvSpPr txBox="1"/>
          <p:nvPr/>
        </p:nvSpPr>
        <p:spPr>
          <a:xfrm>
            <a:off x="640080" y="3749040"/>
            <a:ext cx="2286000" cy="320040"/>
          </a:xfrm>
          <a:prstGeom prst="rect">
            <a:avLst/>
          </a:prstGeom>
          <a:noFill/>
          <a:ln/>
        </p:spPr>
        <p:txBody>
          <a:bodyPr wrap="square" lIns="0" tIns="0" rIns="0" bIns="0" rtlCol="0" anchor="ctr"/>
          <a:lstStyle/>
          <a:p>
            <a:pPr indent="0" marL="0">
              <a:buNone/>
            </a:pPr>
            <a:r>
              <a:rPr lang="en-US" sz="1400" b="1" dirty="0">
                <a:solidFill>
                  <a:schemeClr val="tx2"/>
                </a:solidFill>
              </a:rPr>
              <a:t>Media &amp; geolocation</a:t>
            </a:r>
            <a:endParaRPr lang="en-US" sz="1400" dirty="0"/>
          </a:p>
        </p:txBody>
      </p:sp>
      <p:sp>
        <p:nvSpPr>
          <p:cNvPr id="22" name="Text 16"/>
          <p:cNvSpPr txBox="1"/>
          <p:nvPr/>
        </p:nvSpPr>
        <p:spPr>
          <a:xfrm>
            <a:off x="640080" y="4050792"/>
            <a:ext cx="2286000" cy="320040"/>
          </a:xfrm>
          <a:prstGeom prst="rect">
            <a:avLst/>
          </a:prstGeom>
          <a:noFill/>
          <a:ln/>
        </p:spPr>
        <p:txBody>
          <a:bodyPr wrap="square" lIns="0" tIns="0" rIns="0" bIns="0" rtlCol="0" anchor="ctr"/>
          <a:lstStyle/>
          <a:p>
            <a:pPr indent="0" marL="0">
              <a:buNone/>
            </a:pPr>
            <a:r>
              <a:rPr lang="en-US" sz="1200" dirty="0">
                <a:solidFill>
                  <a:schemeClr val="accent4"/>
                </a:solidFill>
              </a:rPr>
              <a:t>EXIF, GPS, camera details</a:t>
            </a:r>
            <a:endParaRPr lang="en-US" sz="1200" dirty="0"/>
          </a:p>
        </p:txBody>
      </p:sp>
      <p:sp>
        <p:nvSpPr>
          <p:cNvPr id="23" name="app card"/>
          <p:cNvSpPr/>
          <p:nvPr/>
        </p:nvSpPr>
        <p:spPr>
          <a:xfrm>
            <a:off x="3246120" y="2880360"/>
            <a:ext cx="2606040" cy="1600200"/>
          </a:xfrm>
          <a:prstGeom prst="roundRect">
            <a:avLst>
              <a:gd name="adj" fmla="val 4571"/>
            </a:avLst>
          </a:prstGeom>
          <a:solidFill>
            <a:schemeClr val="bg2"/>
          </a:solidFill>
          <a:ln w="12700">
            <a:solidFill>
              <a:schemeClr val="bg2"/>
            </a:solidFill>
            <a:prstDash val="solid"/>
          </a:ln>
        </p:spPr>
      </p:sp>
      <p:sp>
        <p:nvSpPr>
          <p:cNvPr id="24" name="icon circle"/>
          <p:cNvSpPr/>
          <p:nvPr/>
        </p:nvSpPr>
        <p:spPr>
          <a:xfrm>
            <a:off x="3429000" y="3081528"/>
            <a:ext cx="566928" cy="566928"/>
          </a:xfrm>
          <a:prstGeom prst="ellipse">
            <a:avLst/>
          </a:prstGeom>
          <a:solidFill>
            <a:schemeClr val="tx2"/>
          </a:solidFill>
          <a:ln w="12700">
            <a:solidFill>
              <a:schemeClr val="tx2"/>
            </a:solidFill>
            <a:prstDash val="solid"/>
          </a:ln>
        </p:spPr>
      </p:sp>
      <p:pic>
        <p:nvPicPr>
          <p:cNvPr id="25" name="icon" descr="preencoded.png">    </p:cNvPr>
          <p:cNvPicPr>
            <a:picLocks noChangeAspect="1"/>
          </p:cNvPicPr>
          <p:nvPr/>
        </p:nvPicPr>
        <p:blipFill>
          <a:blip r:embed="rId5"/>
          <a:stretch>
            <a:fillRect/>
          </a:stretch>
        </p:blipFill>
        <p:spPr>
          <a:xfrm>
            <a:off x="3557016" y="3209544"/>
            <a:ext cx="310896" cy="310896"/>
          </a:xfrm>
          <a:prstGeom prst="rect">
            <a:avLst/>
          </a:prstGeom>
        </p:spPr>
      </p:pic>
      <p:sp>
        <p:nvSpPr>
          <p:cNvPr id="26" name="Text 19"/>
          <p:cNvSpPr txBox="1"/>
          <p:nvPr/>
        </p:nvSpPr>
        <p:spPr>
          <a:xfrm>
            <a:off x="3429000" y="3749040"/>
            <a:ext cx="2286000" cy="320040"/>
          </a:xfrm>
          <a:prstGeom prst="rect">
            <a:avLst/>
          </a:prstGeom>
          <a:noFill/>
          <a:ln/>
        </p:spPr>
        <p:txBody>
          <a:bodyPr wrap="square" lIns="0" tIns="0" rIns="0" bIns="0" rtlCol="0" anchor="ctr"/>
          <a:lstStyle/>
          <a:p>
            <a:pPr indent="0" marL="0">
              <a:buNone/>
            </a:pPr>
            <a:r>
              <a:rPr lang="en-US" sz="1400" b="1" dirty="0">
                <a:solidFill>
                  <a:schemeClr val="tx2"/>
                </a:solidFill>
              </a:rPr>
              <a:t>Mobile artifacts</a:t>
            </a:r>
            <a:endParaRPr lang="en-US" sz="1400" dirty="0"/>
          </a:p>
        </p:txBody>
      </p:sp>
      <p:sp>
        <p:nvSpPr>
          <p:cNvPr id="27" name="Text 20"/>
          <p:cNvSpPr txBox="1"/>
          <p:nvPr/>
        </p:nvSpPr>
        <p:spPr>
          <a:xfrm>
            <a:off x="3429000" y="4050792"/>
            <a:ext cx="2286000" cy="320040"/>
          </a:xfrm>
          <a:prstGeom prst="rect">
            <a:avLst/>
          </a:prstGeom>
          <a:noFill/>
          <a:ln/>
        </p:spPr>
        <p:txBody>
          <a:bodyPr wrap="square" lIns="0" tIns="0" rIns="0" bIns="0" rtlCol="0" anchor="ctr"/>
          <a:lstStyle/>
          <a:p>
            <a:pPr indent="0" marL="0">
              <a:buNone/>
            </a:pPr>
            <a:r>
              <a:rPr lang="en-US" sz="1200" dirty="0">
                <a:solidFill>
                  <a:schemeClr val="accent4"/>
                </a:solidFill>
              </a:rPr>
              <a:t>Android / iOS extractions</a:t>
            </a:r>
            <a:endParaRPr lang="en-US" sz="1200" dirty="0"/>
          </a:p>
        </p:txBody>
      </p:sp>
      <p:sp>
        <p:nvSpPr>
          <p:cNvPr id="28" name="app card"/>
          <p:cNvSpPr/>
          <p:nvPr/>
        </p:nvSpPr>
        <p:spPr>
          <a:xfrm>
            <a:off x="6035040" y="2880360"/>
            <a:ext cx="2606040" cy="1600200"/>
          </a:xfrm>
          <a:prstGeom prst="roundRect">
            <a:avLst>
              <a:gd name="adj" fmla="val 4571"/>
            </a:avLst>
          </a:prstGeom>
          <a:solidFill>
            <a:schemeClr val="bg2"/>
          </a:solidFill>
          <a:ln w="12700">
            <a:solidFill>
              <a:schemeClr val="bg2"/>
            </a:solidFill>
            <a:prstDash val="solid"/>
          </a:ln>
        </p:spPr>
      </p:sp>
      <p:sp>
        <p:nvSpPr>
          <p:cNvPr id="29" name="icon circle"/>
          <p:cNvSpPr/>
          <p:nvPr/>
        </p:nvSpPr>
        <p:spPr>
          <a:xfrm>
            <a:off x="6217920" y="3081528"/>
            <a:ext cx="566928" cy="566928"/>
          </a:xfrm>
          <a:prstGeom prst="ellipse">
            <a:avLst/>
          </a:prstGeom>
          <a:solidFill>
            <a:schemeClr val="tx2"/>
          </a:solidFill>
          <a:ln w="12700">
            <a:solidFill>
              <a:schemeClr val="tx2"/>
            </a:solidFill>
            <a:prstDash val="solid"/>
          </a:ln>
        </p:spPr>
      </p:sp>
      <p:pic>
        <p:nvPicPr>
          <p:cNvPr id="30" name="icon" descr="preencoded.png">    </p:cNvPr>
          <p:cNvPicPr>
            <a:picLocks noChangeAspect="1"/>
          </p:cNvPicPr>
          <p:nvPr/>
        </p:nvPicPr>
        <p:blipFill>
          <a:blip r:embed="rId6"/>
          <a:stretch>
            <a:fillRect/>
          </a:stretch>
        </p:blipFill>
        <p:spPr>
          <a:xfrm>
            <a:off x="6345936" y="3209544"/>
            <a:ext cx="310896" cy="310896"/>
          </a:xfrm>
          <a:prstGeom prst="rect">
            <a:avLst/>
          </a:prstGeom>
        </p:spPr>
      </p:pic>
      <p:sp>
        <p:nvSpPr>
          <p:cNvPr id="31" name="Text 23"/>
          <p:cNvSpPr txBox="1"/>
          <p:nvPr/>
        </p:nvSpPr>
        <p:spPr>
          <a:xfrm>
            <a:off x="6217920" y="3749040"/>
            <a:ext cx="2286000" cy="320040"/>
          </a:xfrm>
          <a:prstGeom prst="rect">
            <a:avLst/>
          </a:prstGeom>
          <a:noFill/>
          <a:ln/>
        </p:spPr>
        <p:txBody>
          <a:bodyPr wrap="square" lIns="0" tIns="0" rIns="0" bIns="0" rtlCol="0" anchor="ctr"/>
          <a:lstStyle/>
          <a:p>
            <a:pPr indent="0" marL="0">
              <a:buNone/>
            </a:pPr>
            <a:r>
              <a:rPr lang="en-US" sz="1400" b="1" dirty="0">
                <a:solidFill>
                  <a:schemeClr val="tx2"/>
                </a:solidFill>
              </a:rPr>
              <a:t>Education &amp; training</a:t>
            </a:r>
            <a:endParaRPr lang="en-US" sz="1400" dirty="0"/>
          </a:p>
        </p:txBody>
      </p:sp>
      <p:sp>
        <p:nvSpPr>
          <p:cNvPr id="32" name="Text 24"/>
          <p:cNvSpPr txBox="1"/>
          <p:nvPr/>
        </p:nvSpPr>
        <p:spPr>
          <a:xfrm>
            <a:off x="6217920" y="4050792"/>
            <a:ext cx="2286000" cy="320040"/>
          </a:xfrm>
          <a:prstGeom prst="rect">
            <a:avLst/>
          </a:prstGeom>
          <a:noFill/>
          <a:ln/>
        </p:spPr>
        <p:txBody>
          <a:bodyPr wrap="square" lIns="0" tIns="0" rIns="0" bIns="0" rtlCol="0" anchor="ctr"/>
          <a:lstStyle/>
          <a:p>
            <a:pPr indent="0" marL="0">
              <a:buNone/>
            </a:pPr>
            <a:r>
              <a:rPr lang="en-US" sz="1200" dirty="0">
                <a:solidFill>
                  <a:schemeClr val="accent4"/>
                </a:solidFill>
              </a:rPr>
              <a:t>Free, standard workflow</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Installing Autopsy</a:t>
            </a:r>
            <a:endParaRPr lang="en-US" sz="2800" dirty="0"/>
          </a:p>
        </p:txBody>
      </p:sp>
      <p:sp>
        <p:nvSpPr>
          <p:cNvPr id="3" name="install card"/>
          <p:cNvSpPr/>
          <p:nvPr/>
        </p:nvSpPr>
        <p:spPr>
          <a:xfrm>
            <a:off x="457200" y="1051560"/>
            <a:ext cx="3977640" cy="2514600"/>
          </a:xfrm>
          <a:prstGeom prst="roundRect">
            <a:avLst>
              <a:gd name="adj" fmla="val 2909"/>
            </a:avLst>
          </a:prstGeom>
          <a:solidFill>
            <a:schemeClr val="bg2"/>
          </a:solidFill>
          <a:ln w="12700">
            <a:solidFill>
              <a:schemeClr val="bg2"/>
            </a:solidFill>
            <a:prstDash val="solid"/>
          </a:ln>
        </p:spPr>
      </p:sp>
      <p:pic>
        <p:nvPicPr>
          <p:cNvPr id="4" name="os icon" descr="preencoded.png">    </p:cNvPr>
          <p:cNvPicPr>
            <a:picLocks noChangeAspect="1"/>
          </p:cNvPicPr>
          <p:nvPr/>
        </p:nvPicPr>
        <p:blipFill>
          <a:blip r:embed="rId1"/>
          <a:stretch>
            <a:fillRect/>
          </a:stretch>
        </p:blipFill>
        <p:spPr>
          <a:xfrm>
            <a:off x="685800" y="1207008"/>
            <a:ext cx="365760" cy="365760"/>
          </a:xfrm>
          <a:prstGeom prst="rect">
            <a:avLst/>
          </a:prstGeom>
        </p:spPr>
      </p:pic>
      <p:sp>
        <p:nvSpPr>
          <p:cNvPr id="5" name="Text 2"/>
          <p:cNvSpPr txBox="1"/>
          <p:nvPr/>
        </p:nvSpPr>
        <p:spPr>
          <a:xfrm>
            <a:off x="1188720" y="1188720"/>
            <a:ext cx="3108960" cy="411480"/>
          </a:xfrm>
          <a:prstGeom prst="rect">
            <a:avLst/>
          </a:prstGeom>
          <a:noFill/>
          <a:ln/>
        </p:spPr>
        <p:txBody>
          <a:bodyPr wrap="square" lIns="0" tIns="0" rIns="0" bIns="0" rtlCol="0" anchor="ctr"/>
          <a:lstStyle/>
          <a:p>
            <a:pPr indent="0" marL="0">
              <a:buNone/>
            </a:pPr>
            <a:r>
              <a:rPr lang="en-US" sz="1700" b="1" dirty="0">
                <a:solidFill>
                  <a:schemeClr val="tx2"/>
                </a:solidFill>
              </a:rPr>
              <a:t>Windows (easiest)</a:t>
            </a:r>
            <a:endParaRPr lang="en-US" sz="1700" dirty="0"/>
          </a:p>
        </p:txBody>
      </p:sp>
      <p:sp>
        <p:nvSpPr>
          <p:cNvPr id="6" name="Text 3"/>
          <p:cNvSpPr txBox="1"/>
          <p:nvPr/>
        </p:nvSpPr>
        <p:spPr>
          <a:xfrm>
            <a:off x="685800" y="1719072"/>
            <a:ext cx="3566160" cy="17830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rPr>
              <a:t>Download the 64-bit MSI from autopsy.com</a:t>
            </a:r>
            <a:endParaRPr lang="en-US" sz="1300" dirty="0"/>
          </a:p>
          <a:p>
            <a:pPr marL="342900" indent="-342900">
              <a:spcAft>
                <a:spcPts val="500"/>
              </a:spcAft>
              <a:buSzPct val="100000"/>
              <a:buFont typeface="+mj-lt"/>
              <a:buAutoNum type="arabicPeriod" startAt="1"/>
            </a:pPr>
            <a:r>
              <a:rPr lang="en-US" sz="1300" dirty="0">
                <a:solidFill>
                  <a:schemeClr val="tx1"/>
                </a:solidFill>
              </a:rPr>
              <a:t>Run as administrator → Install</a:t>
            </a:r>
            <a:endParaRPr lang="en-US" sz="1300" dirty="0"/>
          </a:p>
          <a:p>
            <a:pPr marL="342900" indent="-342900">
              <a:spcAft>
                <a:spcPts val="500"/>
              </a:spcAft>
              <a:buSzPct val="100000"/>
              <a:buFont typeface="+mj-lt"/>
              <a:buAutoNum type="arabicPeriod" startAt="1"/>
            </a:pPr>
            <a:r>
              <a:rPr lang="en-US" sz="1300" dirty="0">
                <a:solidFill>
                  <a:schemeClr val="tx1"/>
                </a:solidFill>
              </a:rPr>
              <a:t>Java and Sleuth Kit are bundled</a:t>
            </a:r>
            <a:endParaRPr lang="en-US" sz="1300" dirty="0"/>
          </a:p>
          <a:p>
            <a:pPr marL="342900" indent="-342900">
              <a:spcAft>
                <a:spcPts val="500"/>
              </a:spcAft>
              <a:buSzPct val="100000"/>
              <a:buFont typeface="+mj-lt"/>
              <a:buAutoNum type="arabicPeriod" startAt="1"/>
            </a:pPr>
            <a:r>
              <a:rPr lang="en-US" sz="1300" dirty="0">
                <a:solidFill>
                  <a:schemeClr val="tx1"/>
                </a:solidFill>
              </a:rPr>
              <a:t>Launch → Welcome screen → New Case</a:t>
            </a:r>
            <a:endParaRPr lang="en-US" sz="1300" dirty="0"/>
          </a:p>
        </p:txBody>
      </p:sp>
      <p:sp>
        <p:nvSpPr>
          <p:cNvPr id="7" name="install card"/>
          <p:cNvSpPr/>
          <p:nvPr/>
        </p:nvSpPr>
        <p:spPr>
          <a:xfrm>
            <a:off x="4709160" y="1051560"/>
            <a:ext cx="3977640" cy="2514600"/>
          </a:xfrm>
          <a:prstGeom prst="roundRect">
            <a:avLst>
              <a:gd name="adj" fmla="val 2909"/>
            </a:avLst>
          </a:prstGeom>
          <a:solidFill>
            <a:schemeClr val="bg2"/>
          </a:solidFill>
          <a:ln w="12700">
            <a:solidFill>
              <a:schemeClr val="bg2"/>
            </a:solidFill>
            <a:prstDash val="solid"/>
          </a:ln>
        </p:spPr>
      </p:sp>
      <p:pic>
        <p:nvPicPr>
          <p:cNvPr id="8" name="os icon" descr="preencoded.png">    </p:cNvPr>
          <p:cNvPicPr>
            <a:picLocks noChangeAspect="1"/>
          </p:cNvPicPr>
          <p:nvPr/>
        </p:nvPicPr>
        <p:blipFill>
          <a:blip r:embed="rId2"/>
          <a:stretch>
            <a:fillRect/>
          </a:stretch>
        </p:blipFill>
        <p:spPr>
          <a:xfrm>
            <a:off x="4937760" y="1207008"/>
            <a:ext cx="365760" cy="365760"/>
          </a:xfrm>
          <a:prstGeom prst="rect">
            <a:avLst/>
          </a:prstGeom>
        </p:spPr>
      </p:pic>
      <p:sp>
        <p:nvSpPr>
          <p:cNvPr id="9" name="Text 5"/>
          <p:cNvSpPr txBox="1"/>
          <p:nvPr/>
        </p:nvSpPr>
        <p:spPr>
          <a:xfrm>
            <a:off x="5440680" y="1188720"/>
            <a:ext cx="3108960" cy="411480"/>
          </a:xfrm>
          <a:prstGeom prst="rect">
            <a:avLst/>
          </a:prstGeom>
          <a:noFill/>
          <a:ln/>
        </p:spPr>
        <p:txBody>
          <a:bodyPr wrap="square" lIns="0" tIns="0" rIns="0" bIns="0" rtlCol="0" anchor="ctr"/>
          <a:lstStyle/>
          <a:p>
            <a:pPr indent="0" marL="0">
              <a:buNone/>
            </a:pPr>
            <a:r>
              <a:rPr lang="en-US" sz="1700" b="1" dirty="0">
                <a:solidFill>
                  <a:schemeClr val="tx2"/>
                </a:solidFill>
              </a:rPr>
              <a:t>Linux (Ubuntu)</a:t>
            </a:r>
            <a:endParaRPr lang="en-US" sz="1700" dirty="0"/>
          </a:p>
        </p:txBody>
      </p:sp>
      <p:sp>
        <p:nvSpPr>
          <p:cNvPr id="10" name="Text 6"/>
          <p:cNvSpPr txBox="1"/>
          <p:nvPr/>
        </p:nvSpPr>
        <p:spPr>
          <a:xfrm>
            <a:off x="4937760" y="1719072"/>
            <a:ext cx="3566160" cy="178308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1300" dirty="0">
                <a:solidFill>
                  <a:schemeClr val="tx1"/>
                </a:solidFill>
              </a:rPr>
              <a:t>Quick: sudo snap install autopsy</a:t>
            </a:r>
            <a:endParaRPr lang="en-US" sz="1300" dirty="0"/>
          </a:p>
          <a:p>
            <a:pPr marL="342900" indent="-342900">
              <a:spcAft>
                <a:spcPts val="500"/>
              </a:spcAft>
              <a:buSzPct val="100000"/>
              <a:buFont typeface="+mj-lt"/>
              <a:buAutoNum type="arabicPeriod" startAt="1"/>
            </a:pPr>
            <a:r>
              <a:rPr lang="en-US" sz="1300" dirty="0">
                <a:solidFill>
                  <a:schemeClr val="tx1"/>
                </a:solidFill>
              </a:rPr>
              <a:t>Latest: install Java 21 + Sleuth Kit 4.15</a:t>
            </a:r>
            <a:endParaRPr lang="en-US" sz="1300" dirty="0"/>
          </a:p>
          <a:p>
            <a:pPr marL="342900" indent="-342900">
              <a:spcAft>
                <a:spcPts val="500"/>
              </a:spcAft>
              <a:buSzPct val="100000"/>
              <a:buFont typeface="+mj-lt"/>
              <a:buAutoNum type="arabicPeriod" startAt="1"/>
            </a:pPr>
            <a:r>
              <a:rPr lang="en-US" sz="1300" dirty="0">
                <a:solidFill>
                  <a:schemeClr val="tx1"/>
                </a:solidFill>
              </a:rPr>
              <a:t>Run install_application.sh with the ZIP</a:t>
            </a:r>
            <a:endParaRPr lang="en-US" sz="1300" dirty="0"/>
          </a:p>
          <a:p>
            <a:pPr marL="342900" indent="-342900">
              <a:spcAft>
                <a:spcPts val="500"/>
              </a:spcAft>
              <a:buSzPct val="100000"/>
              <a:buFont typeface="+mj-lt"/>
              <a:buAutoNum type="arabicPeriod" startAt="1"/>
            </a:pPr>
            <a:r>
              <a:rPr lang="en-US" sz="1300" dirty="0">
                <a:solidFill>
                  <a:schemeClr val="tx1"/>
                </a:solidFill>
              </a:rPr>
              <a:t>Start ~/autopsy/bin/autopsy</a:t>
            </a:r>
            <a:endParaRPr lang="en-US" sz="1300" dirty="0"/>
          </a:p>
        </p:txBody>
      </p:sp>
      <p:sp>
        <p:nvSpPr>
          <p:cNvPr id="11" name="gotcha box"/>
          <p:cNvSpPr/>
          <p:nvPr/>
        </p:nvSpPr>
        <p:spPr>
          <a:xfrm>
            <a:off x="457200" y="3749040"/>
            <a:ext cx="8229600" cy="868680"/>
          </a:xfrm>
          <a:prstGeom prst="roundRect">
            <a:avLst>
              <a:gd name="adj" fmla="val 8421"/>
            </a:avLst>
          </a:prstGeom>
          <a:solidFill>
            <a:srgbClr val="FBE9EC"/>
          </a:solidFill>
          <a:ln w="12700">
            <a:solidFill>
              <a:srgbClr val="FBE9EC"/>
            </a:solidFill>
            <a:prstDash val="solid"/>
          </a:ln>
        </p:spPr>
      </p:sp>
      <p:pic>
        <p:nvPicPr>
          <p:cNvPr id="12" name="warning icon" descr="preencoded.png">    </p:cNvPr>
          <p:cNvPicPr>
            <a:picLocks noChangeAspect="1"/>
          </p:cNvPicPr>
          <p:nvPr/>
        </p:nvPicPr>
        <p:blipFill>
          <a:blip r:embed="rId3"/>
          <a:stretch>
            <a:fillRect/>
          </a:stretch>
        </p:blipFill>
        <p:spPr>
          <a:xfrm>
            <a:off x="640080" y="3986784"/>
            <a:ext cx="384048" cy="384048"/>
          </a:xfrm>
          <a:prstGeom prst="rect">
            <a:avLst/>
          </a:prstGeom>
        </p:spPr>
      </p:pic>
      <p:sp>
        <p:nvSpPr>
          <p:cNvPr id="13" name="Text 8"/>
          <p:cNvSpPr txBox="1"/>
          <p:nvPr/>
        </p:nvSpPr>
        <p:spPr>
          <a:xfrm>
            <a:off x="1188720" y="3794760"/>
            <a:ext cx="7315200" cy="777240"/>
          </a:xfrm>
          <a:prstGeom prst="rect">
            <a:avLst/>
          </a:prstGeom>
          <a:noFill/>
          <a:ln/>
        </p:spPr>
        <p:txBody>
          <a:bodyPr wrap="square" lIns="0" tIns="0" rIns="0" bIns="0" rtlCol="0" anchor="ctr"/>
          <a:lstStyle/>
          <a:p>
            <a:pPr indent="0" marL="0">
              <a:buNone/>
            </a:pPr>
            <a:r>
              <a:rPr lang="en-US" sz="1300" b="1" dirty="0">
                <a:solidFill>
                  <a:schemeClr val="tx1"/>
                </a:solidFill>
              </a:rPr>
              <a:t>Gotchas we hit on Linux: </a:t>
            </a:r>
            <a:pPr indent="0" marL="0">
              <a:buNone/>
            </a:pPr>
            <a:r>
              <a:rPr lang="en-US" sz="1300" dirty="0">
                <a:solidFill>
                  <a:schemeClr val="tx1"/>
                </a:solidFill>
              </a:rPr>
              <a:t>4.23.1 needs Java 21 (Java 17 fails with UnsupportedClassVersionError); untick the Windows-only aLEAPP, iLEAPP and YARA modules or ingest won't start.</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1737360"/>
            <a:ext cx="8046720" cy="914400"/>
          </a:xfrm>
          <a:prstGeom prst="rect">
            <a:avLst/>
          </a:prstGeom>
          <a:noFill/>
          <a:ln/>
        </p:spPr>
        <p:txBody>
          <a:bodyPr wrap="square" rtlCol="0" anchor="ctr"/>
          <a:lstStyle/>
          <a:p>
            <a:pPr indent="0" marL="0">
              <a:buNone/>
            </a:pPr>
            <a:r>
              <a:rPr lang="en-US" sz="3600" b="1" dirty="0">
                <a:solidFill>
                  <a:schemeClr val="bg1"/>
                </a:solidFill>
                <a:latin typeface="Cambria" pitchFamily="34" charset="0"/>
                <a:ea typeface="Cambria" pitchFamily="34" charset="-122"/>
                <a:cs typeface="Cambria" pitchFamily="34" charset="-120"/>
              </a:rPr>
              <a:t>The case: Project Falcon leak</a:t>
            </a:r>
            <a:endParaRPr lang="en-US" sz="3600" dirty="0"/>
          </a:p>
        </p:txBody>
      </p:sp>
      <p:sp>
        <p:nvSpPr>
          <p:cNvPr id="3" name="Text 0"/>
          <p:cNvSpPr/>
          <p:nvPr>
            <p:ph idx="101" type="body" hasCustomPrompt="1"/>
          </p:nvPr>
        </p:nvSpPr>
        <p:spPr>
          <a:xfrm>
            <a:off x="548640" y="2697480"/>
            <a:ext cx="8046720" cy="822960"/>
          </a:xfrm>
          <a:prstGeom prst="rect">
            <a:avLst/>
          </a:prstGeom>
          <a:noFill/>
          <a:ln/>
        </p:spPr>
        <p:txBody>
          <a:bodyPr wrap="square" rtlCol="0" anchor="t"/>
          <a:lstStyle/>
          <a:p>
            <a:pPr indent="0" marL="0">
              <a:buNone/>
            </a:pPr>
            <a:r>
              <a:rPr lang="en-US" sz="1600" dirty="0">
                <a:solidFill>
                  <a:schemeClr val="accent5"/>
                </a:solidFill>
              </a:rPr>
              <a:t>A (fictional) employee is suspected of leaking a confidential drone design to a competitor. A USB pen drive was seized and imaged.</a:t>
            </a:r>
            <a:endParaRPr lang="en-US" sz="1600" dirty="0"/>
          </a:p>
        </p:txBody>
      </p:sp>
      <p:pic>
        <p:nvPicPr>
          <p:cNvPr id="4" name="usb icon" descr="preencoded.png">    </p:cNvPr>
          <p:cNvPicPr>
            <a:picLocks noChangeAspect="1"/>
          </p:cNvPicPr>
          <p:nvPr/>
        </p:nvPicPr>
        <p:blipFill>
          <a:blip r:embed="rId1"/>
          <a:stretch>
            <a:fillRect/>
          </a:stretch>
        </p:blipFill>
        <p:spPr>
          <a:xfrm>
            <a:off x="548640" y="960120"/>
            <a:ext cx="548640" cy="548640"/>
          </a:xfrm>
          <a:prstGeom prst="rect">
            <a:avLst/>
          </a:prstGeom>
        </p:spPr>
      </p:pic>
      <p:sp>
        <p:nvSpPr>
          <p:cNvPr id="5" name="Text 2"/>
          <p:cNvSpPr txBox="1"/>
          <p:nvPr/>
        </p:nvSpPr>
        <p:spPr>
          <a:xfrm>
            <a:off x="548640" y="3657600"/>
            <a:ext cx="8046720" cy="685800"/>
          </a:xfrm>
          <a:prstGeom prst="rect">
            <a:avLst/>
          </a:prstGeom>
          <a:noFill/>
          <a:ln/>
        </p:spPr>
        <p:txBody>
          <a:bodyPr wrap="square" lIns="0" tIns="0" rIns="0" bIns="0" rtlCol="0" anchor="ctr"/>
          <a:lstStyle/>
          <a:p>
            <a:pPr indent="0" marL="0">
              <a:buNone/>
            </a:pPr>
            <a:r>
              <a:rPr lang="en-US" sz="1300" b="1" dirty="0">
                <a:solidFill>
                  <a:srgbClr val="F2A900"/>
                </a:solidFill>
                <a:latin typeface="Courier New" pitchFamily="34" charset="0"/>
                <a:ea typeface="Courier New" pitchFamily="34" charset="-122"/>
                <a:cs typeface="Courier New" pitchFamily="34" charset="-120"/>
              </a:rPr>
              <a:t>Evidence: </a:t>
            </a:r>
            <a:pPr indent="0" marL="0">
              <a:buNone/>
            </a:pPr>
            <a:r>
              <a:rPr lang="en-US" sz="1300" dirty="0">
                <a:solidFill>
                  <a:schemeClr val="bg1"/>
                </a:solidFill>
                <a:latin typeface="Courier New" pitchFamily="34" charset="0"/>
                <a:ea typeface="Courier New" pitchFamily="34" charset="-122"/>
                <a:cs typeface="Courier New" pitchFamily="34" charset="-120"/>
              </a:rPr>
              <a:t>USB_Evidence_RM01.dd · 64 MB · FAT32</a:t>
            </a:r>
            <a:endParaRPr lang="en-US" sz="1300" dirty="0"/>
          </a:p>
          <a:p>
            <a:pPr indent="0" marL="0">
              <a:buNone/>
            </a:pPr>
            <a:r>
              <a:rPr lang="en-US" sz="1300" b="1" dirty="0">
                <a:solidFill>
                  <a:srgbClr val="F2A900"/>
                </a:solidFill>
                <a:latin typeface="Courier New" pitchFamily="34" charset="0"/>
                <a:ea typeface="Courier New" pitchFamily="34" charset="-122"/>
                <a:cs typeface="Courier New" pitchFamily="34" charset="-120"/>
              </a:rPr>
              <a:t>MD5: </a:t>
            </a:r>
            <a:pPr indent="0" marL="0">
              <a:buNone/>
            </a:pPr>
            <a:r>
              <a:rPr lang="en-US" sz="1300" dirty="0">
                <a:solidFill>
                  <a:schemeClr val="bg1"/>
                </a:solidFill>
                <a:latin typeface="Courier New" pitchFamily="34" charset="0"/>
                <a:ea typeface="Courier New" pitchFamily="34" charset="-122"/>
                <a:cs typeface="Courier New" pitchFamily="34" charset="-120"/>
              </a:rPr>
              <a:t>bacea5569e56c15fd14d6a4f7023c006</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Three questions the drive must answer</a:t>
            </a:r>
            <a:endParaRPr lang="en-US" sz="2800" dirty="0"/>
          </a:p>
        </p:txBody>
      </p:sp>
      <p:sp>
        <p:nvSpPr>
          <p:cNvPr id="3" name="question card"/>
          <p:cNvSpPr/>
          <p:nvPr/>
        </p:nvSpPr>
        <p:spPr>
          <a:xfrm>
            <a:off x="457200" y="1143000"/>
            <a:ext cx="2606040" cy="2926080"/>
          </a:xfrm>
          <a:prstGeom prst="roundRect">
            <a:avLst>
              <a:gd name="adj" fmla="val 2807"/>
            </a:avLst>
          </a:prstGeom>
          <a:solidFill>
            <a:schemeClr val="bg2"/>
          </a:solidFill>
          <a:ln w="12700">
            <a:solidFill>
              <a:schemeClr val="bg2"/>
            </a:solidFill>
            <a:prstDash val="solid"/>
          </a:ln>
        </p:spPr>
      </p:sp>
      <p:sp>
        <p:nvSpPr>
          <p:cNvPr id="4" name="Text 2"/>
          <p:cNvSpPr txBox="1"/>
          <p:nvPr/>
        </p:nvSpPr>
        <p:spPr>
          <a:xfrm>
            <a:off x="685800" y="132588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Q1</a:t>
            </a:r>
            <a:endParaRPr lang="en-US" sz="4000" dirty="0"/>
          </a:p>
        </p:txBody>
      </p:sp>
      <p:sp>
        <p:nvSpPr>
          <p:cNvPr id="5" name="Text 3"/>
          <p:cNvSpPr txBox="1"/>
          <p:nvPr/>
        </p:nvSpPr>
        <p:spPr>
          <a:xfrm>
            <a:off x="685800" y="2103120"/>
            <a:ext cx="2194560" cy="914400"/>
          </a:xfrm>
          <a:prstGeom prst="rect">
            <a:avLst/>
          </a:prstGeom>
          <a:noFill/>
          <a:ln/>
        </p:spPr>
        <p:txBody>
          <a:bodyPr wrap="square" lIns="0" tIns="0" rIns="0" bIns="0" rtlCol="0" anchor="t"/>
          <a:lstStyle/>
          <a:p>
            <a:pPr indent="0" marL="0">
              <a:buNone/>
            </a:pPr>
            <a:r>
              <a:rPr lang="en-US" sz="1800" b="1" dirty="0">
                <a:solidFill>
                  <a:schemeClr val="tx2"/>
                </a:solidFill>
              </a:rPr>
              <a:t>What Falcon material is on the drive?</a:t>
            </a:r>
            <a:endParaRPr lang="en-US" sz="1800" dirty="0"/>
          </a:p>
        </p:txBody>
      </p:sp>
      <p:sp>
        <p:nvSpPr>
          <p:cNvPr id="6" name="Text 4"/>
          <p:cNvSpPr txBox="1"/>
          <p:nvPr/>
        </p:nvSpPr>
        <p:spPr>
          <a:xfrm>
            <a:off x="685800" y="3063240"/>
            <a:ext cx="2194560" cy="822960"/>
          </a:xfrm>
          <a:prstGeom prst="rect">
            <a:avLst/>
          </a:prstGeom>
          <a:noFill/>
          <a:ln/>
        </p:spPr>
        <p:txBody>
          <a:bodyPr wrap="square" lIns="0" tIns="0" rIns="0" bIns="0" rtlCol="0" anchor="t"/>
          <a:lstStyle/>
          <a:p>
            <a:pPr indent="0" marL="0">
              <a:buNone/>
            </a:pPr>
            <a:r>
              <a:rPr lang="en-US" sz="1300" dirty="0">
                <a:solidFill>
                  <a:schemeClr val="accent4"/>
                </a:solidFill>
              </a:rPr>
              <a:t>Including anything deleted, renamed or compressed</a:t>
            </a:r>
            <a:endParaRPr lang="en-US" sz="1300" dirty="0"/>
          </a:p>
        </p:txBody>
      </p:sp>
      <p:sp>
        <p:nvSpPr>
          <p:cNvPr id="7" name="question card"/>
          <p:cNvSpPr/>
          <p:nvPr/>
        </p:nvSpPr>
        <p:spPr>
          <a:xfrm>
            <a:off x="3246120" y="1143000"/>
            <a:ext cx="2606040" cy="2926080"/>
          </a:xfrm>
          <a:prstGeom prst="roundRect">
            <a:avLst>
              <a:gd name="adj" fmla="val 2807"/>
            </a:avLst>
          </a:prstGeom>
          <a:solidFill>
            <a:schemeClr val="bg2"/>
          </a:solidFill>
          <a:ln w="12700">
            <a:solidFill>
              <a:schemeClr val="bg2"/>
            </a:solidFill>
            <a:prstDash val="solid"/>
          </a:ln>
        </p:spPr>
      </p:sp>
      <p:sp>
        <p:nvSpPr>
          <p:cNvPr id="8" name="Text 6"/>
          <p:cNvSpPr txBox="1"/>
          <p:nvPr/>
        </p:nvSpPr>
        <p:spPr>
          <a:xfrm>
            <a:off x="3474720" y="132588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Q2</a:t>
            </a:r>
            <a:endParaRPr lang="en-US" sz="4000" dirty="0"/>
          </a:p>
        </p:txBody>
      </p:sp>
      <p:sp>
        <p:nvSpPr>
          <p:cNvPr id="9" name="Text 7"/>
          <p:cNvSpPr txBox="1"/>
          <p:nvPr/>
        </p:nvSpPr>
        <p:spPr>
          <a:xfrm>
            <a:off x="3474720" y="2103120"/>
            <a:ext cx="2194560" cy="914400"/>
          </a:xfrm>
          <a:prstGeom prst="rect">
            <a:avLst/>
          </a:prstGeom>
          <a:noFill/>
          <a:ln/>
        </p:spPr>
        <p:txBody>
          <a:bodyPr wrap="square" lIns="0" tIns="0" rIns="0" bIns="0" rtlCol="0" anchor="t"/>
          <a:lstStyle/>
          <a:p>
            <a:pPr indent="0" marL="0">
              <a:buNone/>
            </a:pPr>
            <a:r>
              <a:rPr lang="en-US" sz="1800" b="1" dirty="0">
                <a:solidFill>
                  <a:schemeClr val="tx2"/>
                </a:solidFill>
              </a:rPr>
              <a:t>Who was it going to?</a:t>
            </a:r>
            <a:endParaRPr lang="en-US" sz="1800" dirty="0"/>
          </a:p>
        </p:txBody>
      </p:sp>
      <p:sp>
        <p:nvSpPr>
          <p:cNvPr id="10" name="Text 8"/>
          <p:cNvSpPr txBox="1"/>
          <p:nvPr/>
        </p:nvSpPr>
        <p:spPr>
          <a:xfrm>
            <a:off x="3474720" y="3063240"/>
            <a:ext cx="2194560" cy="822960"/>
          </a:xfrm>
          <a:prstGeom prst="rect">
            <a:avLst/>
          </a:prstGeom>
          <a:noFill/>
          <a:ln/>
        </p:spPr>
        <p:txBody>
          <a:bodyPr wrap="square" lIns="0" tIns="0" rIns="0" bIns="0" rtlCol="0" anchor="t"/>
          <a:lstStyle/>
          <a:p>
            <a:pPr indent="0" marL="0">
              <a:buNone/>
            </a:pPr>
            <a:r>
              <a:rPr lang="en-US" sz="1300" dirty="0">
                <a:solidFill>
                  <a:schemeClr val="accent4"/>
                </a:solidFill>
              </a:rPr>
              <a:t>Any contact, address or plan linking it to an outsider</a:t>
            </a:r>
            <a:endParaRPr lang="en-US" sz="1300" dirty="0"/>
          </a:p>
        </p:txBody>
      </p:sp>
      <p:sp>
        <p:nvSpPr>
          <p:cNvPr id="11" name="question card"/>
          <p:cNvSpPr/>
          <p:nvPr/>
        </p:nvSpPr>
        <p:spPr>
          <a:xfrm>
            <a:off x="6035040" y="1143000"/>
            <a:ext cx="2606040" cy="2926080"/>
          </a:xfrm>
          <a:prstGeom prst="roundRect">
            <a:avLst>
              <a:gd name="adj" fmla="val 2807"/>
            </a:avLst>
          </a:prstGeom>
          <a:solidFill>
            <a:schemeClr val="bg2"/>
          </a:solidFill>
          <a:ln w="12700">
            <a:solidFill>
              <a:schemeClr val="bg2"/>
            </a:solidFill>
            <a:prstDash val="solid"/>
          </a:ln>
        </p:spPr>
      </p:sp>
      <p:sp>
        <p:nvSpPr>
          <p:cNvPr id="12" name="Text 10"/>
          <p:cNvSpPr txBox="1"/>
          <p:nvPr/>
        </p:nvSpPr>
        <p:spPr>
          <a:xfrm>
            <a:off x="6263640" y="1325880"/>
            <a:ext cx="2194560" cy="685800"/>
          </a:xfrm>
          <a:prstGeom prst="rect">
            <a:avLst/>
          </a:prstGeom>
          <a:noFill/>
          <a:ln/>
        </p:spPr>
        <p:txBody>
          <a:bodyPr wrap="square" lIns="0" tIns="0" rIns="0" bIns="0" rtlCol="0" anchor="ctr"/>
          <a:lstStyle/>
          <a:p>
            <a:pPr indent="0" marL="0">
              <a:buNone/>
            </a:pPr>
            <a:r>
              <a:rPr lang="en-US" sz="4000" b="1" dirty="0">
                <a:solidFill>
                  <a:schemeClr val="accent1"/>
                </a:solidFill>
                <a:latin typeface="Cambria" pitchFamily="34" charset="0"/>
                <a:ea typeface="Cambria" pitchFamily="34" charset="-122"/>
                <a:cs typeface="Cambria" pitchFamily="34" charset="-120"/>
              </a:rPr>
              <a:t>Q3</a:t>
            </a:r>
            <a:endParaRPr lang="en-US" sz="4000" dirty="0"/>
          </a:p>
        </p:txBody>
      </p:sp>
      <p:sp>
        <p:nvSpPr>
          <p:cNvPr id="13" name="Text 11"/>
          <p:cNvSpPr txBox="1"/>
          <p:nvPr/>
        </p:nvSpPr>
        <p:spPr>
          <a:xfrm>
            <a:off x="6263640" y="2103120"/>
            <a:ext cx="2194560" cy="914400"/>
          </a:xfrm>
          <a:prstGeom prst="rect">
            <a:avLst/>
          </a:prstGeom>
          <a:noFill/>
          <a:ln/>
        </p:spPr>
        <p:txBody>
          <a:bodyPr wrap="square" lIns="0" tIns="0" rIns="0" bIns="0" rtlCol="0" anchor="t"/>
          <a:lstStyle/>
          <a:p>
            <a:pPr indent="0" marL="0">
              <a:buNone/>
            </a:pPr>
            <a:r>
              <a:rPr lang="en-US" sz="1800" b="1" dirty="0">
                <a:solidFill>
                  <a:schemeClr val="tx2"/>
                </a:solidFill>
              </a:rPr>
              <a:t>When and where did it happen?</a:t>
            </a:r>
            <a:endParaRPr lang="en-US" sz="1800" dirty="0"/>
          </a:p>
        </p:txBody>
      </p:sp>
      <p:sp>
        <p:nvSpPr>
          <p:cNvPr id="14" name="Text 12"/>
          <p:cNvSpPr txBox="1"/>
          <p:nvPr/>
        </p:nvSpPr>
        <p:spPr>
          <a:xfrm>
            <a:off x="6263640" y="3063240"/>
            <a:ext cx="2194560" cy="822960"/>
          </a:xfrm>
          <a:prstGeom prst="rect">
            <a:avLst/>
          </a:prstGeom>
          <a:noFill/>
          <a:ln/>
        </p:spPr>
        <p:txBody>
          <a:bodyPr wrap="square" lIns="0" tIns="0" rIns="0" bIns="0" rtlCol="0" anchor="t"/>
          <a:lstStyle/>
          <a:p>
            <a:pPr indent="0" marL="0">
              <a:buNone/>
            </a:pPr>
            <a:r>
              <a:rPr lang="en-US" sz="1300" dirty="0">
                <a:solidFill>
                  <a:schemeClr val="accent4"/>
                </a:solidFill>
              </a:rPr>
              <a:t>Timestamps, photo metadata, sequence of events</a:t>
            </a:r>
            <a:endParaRPr lang="en-US" sz="1300" dirty="0"/>
          </a:p>
        </p:txBody>
      </p:sp>
      <p:sp>
        <p:nvSpPr>
          <p:cNvPr id="15" name="Text 13"/>
          <p:cNvSpPr txBox="1"/>
          <p:nvPr/>
        </p:nvSpPr>
        <p:spPr>
          <a:xfrm>
            <a:off x="457200" y="4251960"/>
            <a:ext cx="8229600" cy="320040"/>
          </a:xfrm>
          <a:prstGeom prst="rect">
            <a:avLst/>
          </a:prstGeom>
          <a:noFill/>
          <a:ln/>
        </p:spPr>
        <p:txBody>
          <a:bodyPr wrap="square" lIns="0" tIns="0" rIns="0" bIns="0" rtlCol="0" anchor="ctr"/>
          <a:lstStyle/>
          <a:p>
            <a:pPr indent="0" marL="0">
              <a:buNone/>
            </a:pPr>
            <a:r>
              <a:rPr lang="en-US" sz="1300" i="1" dirty="0">
                <a:solidFill>
                  <a:schemeClr val="accent4"/>
                </a:solidFill>
              </a:rPr>
              <a:t>Answers on the last slide.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Live demo: what we will do</a:t>
            </a:r>
            <a:endParaRPr lang="en-US" sz="2800" dirty="0"/>
          </a:p>
        </p:txBody>
      </p:sp>
      <p:sp>
        <p:nvSpPr>
          <p:cNvPr id="3" name="step number"/>
          <p:cNvSpPr/>
          <p:nvPr/>
        </p:nvSpPr>
        <p:spPr>
          <a:xfrm>
            <a:off x="457200" y="1143000"/>
            <a:ext cx="548640" cy="548640"/>
          </a:xfrm>
          <a:prstGeom prst="ellipse">
            <a:avLst/>
          </a:prstGeom>
          <a:solidFill>
            <a:schemeClr val="accent1"/>
          </a:solidFill>
          <a:ln w="12700">
            <a:solidFill>
              <a:schemeClr val="accent1"/>
            </a:solidFill>
            <a:prstDash val="solid"/>
          </a:ln>
        </p:spPr>
      </p:sp>
      <p:sp>
        <p:nvSpPr>
          <p:cNvPr id="4" name="Text 2"/>
          <p:cNvSpPr txBox="1"/>
          <p:nvPr/>
        </p:nvSpPr>
        <p:spPr>
          <a:xfrm>
            <a:off x="457200" y="114300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1</a:t>
            </a:r>
            <a:endParaRPr lang="en-US" sz="1800" dirty="0"/>
          </a:p>
        </p:txBody>
      </p:sp>
      <p:sp>
        <p:nvSpPr>
          <p:cNvPr id="5" name="Text 3"/>
          <p:cNvSpPr txBox="1"/>
          <p:nvPr/>
        </p:nvSpPr>
        <p:spPr>
          <a:xfrm>
            <a:off x="1143000" y="1124712"/>
            <a:ext cx="2011680" cy="310896"/>
          </a:xfrm>
          <a:prstGeom prst="rect">
            <a:avLst/>
          </a:prstGeom>
          <a:noFill/>
          <a:ln/>
        </p:spPr>
        <p:txBody>
          <a:bodyPr wrap="square" lIns="0" tIns="0" rIns="0" bIns="0" rtlCol="0" anchor="ctr"/>
          <a:lstStyle/>
          <a:p>
            <a:pPr indent="0" marL="0">
              <a:buNone/>
            </a:pPr>
            <a:r>
              <a:rPr lang="en-US" sz="1500" b="1" dirty="0">
                <a:solidFill>
                  <a:schemeClr val="tx2"/>
                </a:solidFill>
              </a:rPr>
              <a:t>Create case</a:t>
            </a:r>
            <a:endParaRPr lang="en-US" sz="1500" dirty="0"/>
          </a:p>
        </p:txBody>
      </p:sp>
      <p:sp>
        <p:nvSpPr>
          <p:cNvPr id="6" name="Text 4"/>
          <p:cNvSpPr txBox="1"/>
          <p:nvPr/>
        </p:nvSpPr>
        <p:spPr>
          <a:xfrm>
            <a:off x="1143000" y="1435608"/>
            <a:ext cx="2011680" cy="292608"/>
          </a:xfrm>
          <a:prstGeom prst="rect">
            <a:avLst/>
          </a:prstGeom>
          <a:noFill/>
          <a:ln/>
        </p:spPr>
        <p:txBody>
          <a:bodyPr wrap="square" lIns="0" tIns="0" rIns="0" bIns="0" rtlCol="0" anchor="ctr"/>
          <a:lstStyle/>
          <a:p>
            <a:pPr indent="0" marL="0">
              <a:buNone/>
            </a:pPr>
            <a:r>
              <a:rPr lang="en-US" sz="1200" dirty="0">
                <a:solidFill>
                  <a:schemeClr val="accent4"/>
                </a:solidFill>
              </a:rPr>
              <a:t>case number + examiner</a:t>
            </a:r>
            <a:endParaRPr lang="en-US" sz="1200" dirty="0"/>
          </a:p>
        </p:txBody>
      </p:sp>
      <p:sp>
        <p:nvSpPr>
          <p:cNvPr id="7" name="step number"/>
          <p:cNvSpPr/>
          <p:nvPr/>
        </p:nvSpPr>
        <p:spPr>
          <a:xfrm>
            <a:off x="3246120" y="1143000"/>
            <a:ext cx="548640" cy="548640"/>
          </a:xfrm>
          <a:prstGeom prst="ellipse">
            <a:avLst/>
          </a:prstGeom>
          <a:solidFill>
            <a:schemeClr val="accent1"/>
          </a:solidFill>
          <a:ln w="12700">
            <a:solidFill>
              <a:schemeClr val="accent1"/>
            </a:solidFill>
            <a:prstDash val="solid"/>
          </a:ln>
        </p:spPr>
      </p:sp>
      <p:sp>
        <p:nvSpPr>
          <p:cNvPr id="8" name="Text 6"/>
          <p:cNvSpPr txBox="1"/>
          <p:nvPr/>
        </p:nvSpPr>
        <p:spPr>
          <a:xfrm>
            <a:off x="3246120" y="114300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2</a:t>
            </a:r>
            <a:endParaRPr lang="en-US" sz="1800" dirty="0"/>
          </a:p>
        </p:txBody>
      </p:sp>
      <p:sp>
        <p:nvSpPr>
          <p:cNvPr id="9" name="Text 7"/>
          <p:cNvSpPr txBox="1"/>
          <p:nvPr/>
        </p:nvSpPr>
        <p:spPr>
          <a:xfrm>
            <a:off x="3931920" y="1124712"/>
            <a:ext cx="2011680" cy="310896"/>
          </a:xfrm>
          <a:prstGeom prst="rect">
            <a:avLst/>
          </a:prstGeom>
          <a:noFill/>
          <a:ln/>
        </p:spPr>
        <p:txBody>
          <a:bodyPr wrap="square" lIns="0" tIns="0" rIns="0" bIns="0" rtlCol="0" anchor="ctr"/>
          <a:lstStyle/>
          <a:p>
            <a:pPr indent="0" marL="0">
              <a:buNone/>
            </a:pPr>
            <a:r>
              <a:rPr lang="en-US" sz="1500" b="1" dirty="0">
                <a:solidFill>
                  <a:schemeClr val="tx2"/>
                </a:solidFill>
              </a:rPr>
              <a:t>Add image</a:t>
            </a:r>
            <a:endParaRPr lang="en-US" sz="1500" dirty="0"/>
          </a:p>
        </p:txBody>
      </p:sp>
      <p:sp>
        <p:nvSpPr>
          <p:cNvPr id="10" name="Text 8"/>
          <p:cNvSpPr txBox="1"/>
          <p:nvPr/>
        </p:nvSpPr>
        <p:spPr>
          <a:xfrm>
            <a:off x="3931920" y="1435608"/>
            <a:ext cx="2011680" cy="292608"/>
          </a:xfrm>
          <a:prstGeom prst="rect">
            <a:avLst/>
          </a:prstGeom>
          <a:noFill/>
          <a:ln/>
        </p:spPr>
        <p:txBody>
          <a:bodyPr wrap="square" lIns="0" tIns="0" rIns="0" bIns="0" rtlCol="0" anchor="ctr"/>
          <a:lstStyle/>
          <a:p>
            <a:pPr indent="0" marL="0">
              <a:buNone/>
            </a:pPr>
            <a:r>
              <a:rPr lang="en-US" sz="1200" dirty="0">
                <a:solidFill>
                  <a:schemeClr val="accent4"/>
                </a:solidFill>
              </a:rPr>
              <a:t>IST time zone + MD5/SHA-256</a:t>
            </a:r>
            <a:endParaRPr lang="en-US" sz="1200" dirty="0"/>
          </a:p>
        </p:txBody>
      </p:sp>
      <p:sp>
        <p:nvSpPr>
          <p:cNvPr id="11" name="step number"/>
          <p:cNvSpPr/>
          <p:nvPr/>
        </p:nvSpPr>
        <p:spPr>
          <a:xfrm>
            <a:off x="6035040" y="1143000"/>
            <a:ext cx="548640" cy="548640"/>
          </a:xfrm>
          <a:prstGeom prst="ellipse">
            <a:avLst/>
          </a:prstGeom>
          <a:solidFill>
            <a:schemeClr val="accent1"/>
          </a:solidFill>
          <a:ln w="12700">
            <a:solidFill>
              <a:schemeClr val="accent1"/>
            </a:solidFill>
            <a:prstDash val="solid"/>
          </a:ln>
        </p:spPr>
      </p:sp>
      <p:sp>
        <p:nvSpPr>
          <p:cNvPr id="12" name="Text 10"/>
          <p:cNvSpPr txBox="1"/>
          <p:nvPr/>
        </p:nvSpPr>
        <p:spPr>
          <a:xfrm>
            <a:off x="6035040" y="114300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3</a:t>
            </a:r>
            <a:endParaRPr lang="en-US" sz="1800" dirty="0"/>
          </a:p>
        </p:txBody>
      </p:sp>
      <p:sp>
        <p:nvSpPr>
          <p:cNvPr id="13" name="Text 11"/>
          <p:cNvSpPr txBox="1"/>
          <p:nvPr/>
        </p:nvSpPr>
        <p:spPr>
          <a:xfrm>
            <a:off x="6720840" y="1124712"/>
            <a:ext cx="2011680" cy="310896"/>
          </a:xfrm>
          <a:prstGeom prst="rect">
            <a:avLst/>
          </a:prstGeom>
          <a:noFill/>
          <a:ln/>
        </p:spPr>
        <p:txBody>
          <a:bodyPr wrap="square" lIns="0" tIns="0" rIns="0" bIns="0" rtlCol="0" anchor="ctr"/>
          <a:lstStyle/>
          <a:p>
            <a:pPr indent="0" marL="0">
              <a:buNone/>
            </a:pPr>
            <a:r>
              <a:rPr lang="en-US" sz="1500" b="1" dirty="0">
                <a:solidFill>
                  <a:schemeClr val="tx2"/>
                </a:solidFill>
              </a:rPr>
              <a:t>Keyword list</a:t>
            </a:r>
            <a:endParaRPr lang="en-US" sz="1500" dirty="0"/>
          </a:p>
        </p:txBody>
      </p:sp>
      <p:sp>
        <p:nvSpPr>
          <p:cNvPr id="14" name="Text 12"/>
          <p:cNvSpPr txBox="1"/>
          <p:nvPr/>
        </p:nvSpPr>
        <p:spPr>
          <a:xfrm>
            <a:off x="6720840" y="1435608"/>
            <a:ext cx="2011680" cy="292608"/>
          </a:xfrm>
          <a:prstGeom prst="rect">
            <a:avLst/>
          </a:prstGeom>
          <a:noFill/>
          <a:ln/>
        </p:spPr>
        <p:txBody>
          <a:bodyPr wrap="square" lIns="0" tIns="0" rIns="0" bIns="0" rtlCol="0" anchor="ctr"/>
          <a:lstStyle/>
          <a:p>
            <a:pPr indent="0" marL="0">
              <a:buNone/>
            </a:pPr>
            <a:r>
              <a:rPr lang="en-US" sz="1200" dirty="0">
                <a:solidFill>
                  <a:schemeClr val="accent4"/>
                </a:solidFill>
              </a:rPr>
              <a:t>falcon · confidential · transfer</a:t>
            </a:r>
            <a:endParaRPr lang="en-US" sz="1200" dirty="0"/>
          </a:p>
        </p:txBody>
      </p:sp>
      <p:sp>
        <p:nvSpPr>
          <p:cNvPr id="15" name="step number"/>
          <p:cNvSpPr/>
          <p:nvPr/>
        </p:nvSpPr>
        <p:spPr>
          <a:xfrm>
            <a:off x="457200" y="2240280"/>
            <a:ext cx="548640" cy="548640"/>
          </a:xfrm>
          <a:prstGeom prst="ellipse">
            <a:avLst/>
          </a:prstGeom>
          <a:solidFill>
            <a:schemeClr val="accent1"/>
          </a:solidFill>
          <a:ln w="12700">
            <a:solidFill>
              <a:schemeClr val="accent1"/>
            </a:solidFill>
            <a:prstDash val="solid"/>
          </a:ln>
        </p:spPr>
      </p:sp>
      <p:sp>
        <p:nvSpPr>
          <p:cNvPr id="16" name="Text 14"/>
          <p:cNvSpPr txBox="1"/>
          <p:nvPr/>
        </p:nvSpPr>
        <p:spPr>
          <a:xfrm>
            <a:off x="457200" y="224028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4</a:t>
            </a:r>
            <a:endParaRPr lang="en-US" sz="1800" dirty="0"/>
          </a:p>
        </p:txBody>
      </p:sp>
      <p:sp>
        <p:nvSpPr>
          <p:cNvPr id="17" name="Text 15"/>
          <p:cNvSpPr txBox="1"/>
          <p:nvPr/>
        </p:nvSpPr>
        <p:spPr>
          <a:xfrm>
            <a:off x="1143000" y="2221992"/>
            <a:ext cx="2011680" cy="310896"/>
          </a:xfrm>
          <a:prstGeom prst="rect">
            <a:avLst/>
          </a:prstGeom>
          <a:noFill/>
          <a:ln/>
        </p:spPr>
        <p:txBody>
          <a:bodyPr wrap="square" lIns="0" tIns="0" rIns="0" bIns="0" rtlCol="0" anchor="ctr"/>
          <a:lstStyle/>
          <a:p>
            <a:pPr indent="0" marL="0">
              <a:buNone/>
            </a:pPr>
            <a:r>
              <a:rPr lang="en-US" sz="1500" b="1" dirty="0">
                <a:solidFill>
                  <a:schemeClr val="tx2"/>
                </a:solidFill>
              </a:rPr>
              <a:t>Run ingest</a:t>
            </a:r>
            <a:endParaRPr lang="en-US" sz="1500" dirty="0"/>
          </a:p>
        </p:txBody>
      </p:sp>
      <p:sp>
        <p:nvSpPr>
          <p:cNvPr id="18" name="Text 16"/>
          <p:cNvSpPr txBox="1"/>
          <p:nvPr/>
        </p:nvSpPr>
        <p:spPr>
          <a:xfrm>
            <a:off x="1143000" y="2532888"/>
            <a:ext cx="2011680" cy="292608"/>
          </a:xfrm>
          <a:prstGeom prst="rect">
            <a:avLst/>
          </a:prstGeom>
          <a:noFill/>
          <a:ln/>
        </p:spPr>
        <p:txBody>
          <a:bodyPr wrap="square" lIns="0" tIns="0" rIns="0" bIns="0" rtlCol="0" anchor="ctr"/>
          <a:lstStyle/>
          <a:p>
            <a:pPr indent="0" marL="0">
              <a:buNone/>
            </a:pPr>
            <a:r>
              <a:rPr lang="en-US" sz="1200" dirty="0">
                <a:solidFill>
                  <a:schemeClr val="accent4"/>
                </a:solidFill>
              </a:rPr>
              <a:t>7 modules, ~30 seconds</a:t>
            </a:r>
            <a:endParaRPr lang="en-US" sz="1200" dirty="0"/>
          </a:p>
        </p:txBody>
      </p:sp>
      <p:sp>
        <p:nvSpPr>
          <p:cNvPr id="19" name="step number"/>
          <p:cNvSpPr/>
          <p:nvPr/>
        </p:nvSpPr>
        <p:spPr>
          <a:xfrm>
            <a:off x="3246120" y="2240280"/>
            <a:ext cx="548640" cy="548640"/>
          </a:xfrm>
          <a:prstGeom prst="ellipse">
            <a:avLst/>
          </a:prstGeom>
          <a:solidFill>
            <a:schemeClr val="accent1"/>
          </a:solidFill>
          <a:ln w="12700">
            <a:solidFill>
              <a:schemeClr val="accent1"/>
            </a:solidFill>
            <a:prstDash val="solid"/>
          </a:ln>
        </p:spPr>
      </p:sp>
      <p:sp>
        <p:nvSpPr>
          <p:cNvPr id="20" name="Text 18"/>
          <p:cNvSpPr txBox="1"/>
          <p:nvPr/>
        </p:nvSpPr>
        <p:spPr>
          <a:xfrm>
            <a:off x="3246120" y="224028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5</a:t>
            </a:r>
            <a:endParaRPr lang="en-US" sz="1800" dirty="0"/>
          </a:p>
        </p:txBody>
      </p:sp>
      <p:sp>
        <p:nvSpPr>
          <p:cNvPr id="21" name="Text 19"/>
          <p:cNvSpPr txBox="1"/>
          <p:nvPr/>
        </p:nvSpPr>
        <p:spPr>
          <a:xfrm>
            <a:off x="3931920" y="2221992"/>
            <a:ext cx="2011680" cy="310896"/>
          </a:xfrm>
          <a:prstGeom prst="rect">
            <a:avLst/>
          </a:prstGeom>
          <a:noFill/>
          <a:ln/>
        </p:spPr>
        <p:txBody>
          <a:bodyPr wrap="square" lIns="0" tIns="0" rIns="0" bIns="0" rtlCol="0" anchor="ctr"/>
          <a:lstStyle/>
          <a:p>
            <a:pPr indent="0" marL="0">
              <a:buNone/>
            </a:pPr>
            <a:r>
              <a:rPr lang="en-US" sz="1500" b="1" dirty="0">
                <a:solidFill>
                  <a:schemeClr val="tx2"/>
                </a:solidFill>
              </a:rPr>
              <a:t>Review results</a:t>
            </a:r>
            <a:endParaRPr lang="en-US" sz="1500" dirty="0"/>
          </a:p>
        </p:txBody>
      </p:sp>
      <p:sp>
        <p:nvSpPr>
          <p:cNvPr id="22" name="Text 20"/>
          <p:cNvSpPr txBox="1"/>
          <p:nvPr/>
        </p:nvSpPr>
        <p:spPr>
          <a:xfrm>
            <a:off x="3931920" y="2532888"/>
            <a:ext cx="2011680" cy="292608"/>
          </a:xfrm>
          <a:prstGeom prst="rect">
            <a:avLst/>
          </a:prstGeom>
          <a:noFill/>
          <a:ln/>
        </p:spPr>
        <p:txBody>
          <a:bodyPr wrap="square" lIns="0" tIns="0" rIns="0" bIns="0" rtlCol="0" anchor="ctr"/>
          <a:lstStyle/>
          <a:p>
            <a:pPr indent="0" marL="0">
              <a:buNone/>
            </a:pPr>
            <a:r>
              <a:rPr lang="en-US" sz="1200" dirty="0">
                <a:solidFill>
                  <a:schemeClr val="accent4"/>
                </a:solidFill>
              </a:rPr>
              <a:t>deleted, mismatch, hits, EXIF</a:t>
            </a:r>
            <a:endParaRPr lang="en-US" sz="1200" dirty="0"/>
          </a:p>
        </p:txBody>
      </p:sp>
      <p:sp>
        <p:nvSpPr>
          <p:cNvPr id="23" name="step number"/>
          <p:cNvSpPr/>
          <p:nvPr/>
        </p:nvSpPr>
        <p:spPr>
          <a:xfrm>
            <a:off x="6035040" y="2240280"/>
            <a:ext cx="548640" cy="548640"/>
          </a:xfrm>
          <a:prstGeom prst="ellipse">
            <a:avLst/>
          </a:prstGeom>
          <a:solidFill>
            <a:schemeClr val="accent1"/>
          </a:solidFill>
          <a:ln w="12700">
            <a:solidFill>
              <a:schemeClr val="accent1"/>
            </a:solidFill>
            <a:prstDash val="solid"/>
          </a:ln>
        </p:spPr>
      </p:sp>
      <p:sp>
        <p:nvSpPr>
          <p:cNvPr id="24" name="Text 22"/>
          <p:cNvSpPr txBox="1"/>
          <p:nvPr/>
        </p:nvSpPr>
        <p:spPr>
          <a:xfrm>
            <a:off x="6035040" y="2240280"/>
            <a:ext cx="548640" cy="548640"/>
          </a:xfrm>
          <a:prstGeom prst="rect">
            <a:avLst/>
          </a:prstGeom>
          <a:noFill/>
          <a:ln/>
        </p:spPr>
        <p:txBody>
          <a:bodyPr wrap="square" lIns="0" tIns="0" rIns="0" bIns="0" rtlCol="0" anchor="ctr"/>
          <a:lstStyle/>
          <a:p>
            <a:pPr algn="ctr" indent="0" marL="0">
              <a:buNone/>
            </a:pPr>
            <a:r>
              <a:rPr lang="en-US" sz="1800" b="1" dirty="0">
                <a:solidFill>
                  <a:schemeClr val="tx2"/>
                </a:solidFill>
              </a:rPr>
              <a:t>6</a:t>
            </a:r>
            <a:endParaRPr lang="en-US" sz="1800" dirty="0"/>
          </a:p>
        </p:txBody>
      </p:sp>
      <p:sp>
        <p:nvSpPr>
          <p:cNvPr id="25" name="Text 23"/>
          <p:cNvSpPr txBox="1"/>
          <p:nvPr/>
        </p:nvSpPr>
        <p:spPr>
          <a:xfrm>
            <a:off x="6720840" y="2221992"/>
            <a:ext cx="2011680" cy="310896"/>
          </a:xfrm>
          <a:prstGeom prst="rect">
            <a:avLst/>
          </a:prstGeom>
          <a:noFill/>
          <a:ln/>
        </p:spPr>
        <p:txBody>
          <a:bodyPr wrap="square" lIns="0" tIns="0" rIns="0" bIns="0" rtlCol="0" anchor="ctr"/>
          <a:lstStyle/>
          <a:p>
            <a:pPr indent="0" marL="0">
              <a:buNone/>
            </a:pPr>
            <a:r>
              <a:rPr lang="en-US" sz="1500" b="1" dirty="0">
                <a:solidFill>
                  <a:schemeClr val="tx2"/>
                </a:solidFill>
              </a:rPr>
              <a:t>Timeline + report</a:t>
            </a:r>
            <a:endParaRPr lang="en-US" sz="1500" dirty="0"/>
          </a:p>
        </p:txBody>
      </p:sp>
      <p:sp>
        <p:nvSpPr>
          <p:cNvPr id="26" name="Text 24"/>
          <p:cNvSpPr txBox="1"/>
          <p:nvPr/>
        </p:nvSpPr>
        <p:spPr>
          <a:xfrm>
            <a:off x="6720840" y="2532888"/>
            <a:ext cx="2011680" cy="292608"/>
          </a:xfrm>
          <a:prstGeom prst="rect">
            <a:avLst/>
          </a:prstGeom>
          <a:noFill/>
          <a:ln/>
        </p:spPr>
        <p:txBody>
          <a:bodyPr wrap="square" lIns="0" tIns="0" rIns="0" bIns="0" rtlCol="0" anchor="ctr"/>
          <a:lstStyle/>
          <a:p>
            <a:pPr indent="0" marL="0">
              <a:buNone/>
            </a:pPr>
            <a:r>
              <a:rPr lang="en-US" sz="1200" dirty="0">
                <a:solidFill>
                  <a:schemeClr val="accent4"/>
                </a:solidFill>
              </a:rPr>
              <a:t>sequence of events, HTML</a:t>
            </a:r>
            <a:endParaRPr lang="en-US" sz="1200" dirty="0"/>
          </a:p>
        </p:txBody>
      </p:sp>
      <p:sp>
        <p:nvSpPr>
          <p:cNvPr id="27" name="settings box"/>
          <p:cNvSpPr/>
          <p:nvPr/>
        </p:nvSpPr>
        <p:spPr>
          <a:xfrm>
            <a:off x="457200" y="3337560"/>
            <a:ext cx="8229600" cy="1234440"/>
          </a:xfrm>
          <a:prstGeom prst="roundRect">
            <a:avLst>
              <a:gd name="adj" fmla="val 5926"/>
            </a:avLst>
          </a:prstGeom>
          <a:solidFill>
            <a:schemeClr val="bg2"/>
          </a:solidFill>
          <a:ln w="12700">
            <a:solidFill>
              <a:schemeClr val="bg2"/>
            </a:solidFill>
            <a:prstDash val="solid"/>
          </a:ln>
        </p:spPr>
      </p:sp>
      <p:sp>
        <p:nvSpPr>
          <p:cNvPr id="28" name="Text 26"/>
          <p:cNvSpPr txBox="1"/>
          <p:nvPr/>
        </p:nvSpPr>
        <p:spPr>
          <a:xfrm>
            <a:off x="685800" y="3401568"/>
            <a:ext cx="7772400" cy="1115568"/>
          </a:xfrm>
          <a:prstGeom prst="rect">
            <a:avLst/>
          </a:prstGeom>
          <a:noFill/>
          <a:ln/>
        </p:spPr>
        <p:txBody>
          <a:bodyPr wrap="square" lIns="0" tIns="0" rIns="0" bIns="0" rtlCol="0" anchor="ctr"/>
          <a:lstStyle/>
          <a:p>
            <a:pPr indent="0" marL="0">
              <a:spcAft>
                <a:spcPts val="200"/>
              </a:spcAft>
              <a:buNone/>
            </a:pPr>
            <a:r>
              <a:rPr lang="en-US" sz="1300" b="1" dirty="0">
                <a:solidFill>
                  <a:schemeClr val="tx1"/>
                </a:solidFill>
              </a:rPr>
              <a:t>Case: </a:t>
            </a:r>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RIT-DF-2026-01_Falcon_Leak</a:t>
            </a:r>
            <a:endParaRPr lang="en-US" sz="1300" dirty="0"/>
          </a:p>
          <a:p>
            <a:pPr indent="0" marL="0">
              <a:spcAft>
                <a:spcPts val="200"/>
              </a:spcAft>
              <a:buNone/>
            </a:pPr>
            <a:r>
              <a:rPr lang="en-US" sz="1300" b="1" dirty="0">
                <a:solidFill>
                  <a:schemeClr val="tx1"/>
                </a:solidFill>
              </a:rPr>
              <a:t>Image MD5: </a:t>
            </a:r>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bacea5569e56c15fd14d6a4f7023c006</a:t>
            </a:r>
            <a:endParaRPr lang="en-US" sz="1300" dirty="0"/>
          </a:p>
          <a:p>
            <a:pPr indent="0" marL="0">
              <a:spcAft>
                <a:spcPts val="200"/>
              </a:spcAft>
              <a:buNone/>
            </a:pPr>
            <a:r>
              <a:rPr lang="en-US" sz="1300" b="1" dirty="0">
                <a:solidFill>
                  <a:schemeClr val="tx1"/>
                </a:solidFill>
              </a:rPr>
              <a:t>Keyword list: </a:t>
            </a:r>
            <a:pPr indent="0" marL="0">
              <a:spcAft>
                <a:spcPts val="200"/>
              </a:spcAft>
              <a:buNone/>
            </a:pPr>
            <a:r>
              <a:rPr lang="en-US" sz="1300" dirty="0">
                <a:solidFill>
                  <a:schemeClr val="tx1"/>
                </a:solidFill>
              </a:rPr>
              <a:t>Falcon_Case = falcon, confidential, transfer (substring)</a:t>
            </a:r>
            <a:endParaRPr lang="en-US" sz="1300" dirty="0"/>
          </a:p>
          <a:p>
            <a:pPr indent="0" marL="0">
              <a:spcAft>
                <a:spcPts val="200"/>
              </a:spcAft>
              <a:buNone/>
            </a:pPr>
            <a:r>
              <a:rPr lang="en-US" sz="1300" b="1" dirty="0">
                <a:solidFill>
                  <a:schemeClr val="tx1"/>
                </a:solidFill>
              </a:rPr>
              <a:t>E-mail regex: </a:t>
            </a:r>
            <a:pPr indent="0" marL="0">
              <a:spcAft>
                <a:spcPts val="200"/>
              </a:spcAft>
              <a:buNone/>
            </a:pPr>
            <a:r>
              <a:rPr lang="en-US" sz="1300" dirty="0">
                <a:solidFill>
                  <a:schemeClr val="tx1"/>
                </a:solidFill>
                <a:latin typeface="Courier New" pitchFamily="34" charset="0"/>
                <a:ea typeface="Courier New" pitchFamily="34" charset="-122"/>
                <a:cs typeface="Courier New" pitchFamily="34" charset="-120"/>
              </a:rPr>
              <a:t>[a-z0-9._%+-]+@[a-z0-9.-]+\.[a-z]{2,}</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Deleted files are not gone</a:t>
            </a:r>
            <a:endParaRPr lang="en-US" sz="2800" dirty="0"/>
          </a:p>
        </p:txBody>
      </p:sp>
      <p:sp>
        <p:nvSpPr>
          <p:cNvPr id="3" name="question chip"/>
          <p:cNvSpPr/>
          <p:nvPr/>
        </p:nvSpPr>
        <p:spPr>
          <a:xfrm>
            <a:off x="8001000" y="347472"/>
            <a:ext cx="685800" cy="384048"/>
          </a:xfrm>
          <a:prstGeom prst="roundRect">
            <a:avLst>
              <a:gd name="adj" fmla="val 14286"/>
            </a:avLst>
          </a:prstGeom>
          <a:solidFill>
            <a:schemeClr val="accent1"/>
          </a:solidFill>
          <a:ln w="12700">
            <a:solidFill>
              <a:schemeClr val="accent1"/>
            </a:solidFill>
            <a:prstDash val="solid"/>
          </a:ln>
        </p:spPr>
      </p:sp>
      <p:sp>
        <p:nvSpPr>
          <p:cNvPr id="4" name="Text 2"/>
          <p:cNvSpPr txBox="1"/>
          <p:nvPr/>
        </p:nvSpPr>
        <p:spPr>
          <a:xfrm>
            <a:off x="8001000" y="347472"/>
            <a:ext cx="685800" cy="384048"/>
          </a:xfrm>
          <a:prstGeom prst="rect">
            <a:avLst/>
          </a:prstGeom>
          <a:noFill/>
          <a:ln/>
        </p:spPr>
        <p:txBody>
          <a:bodyPr wrap="square" lIns="0" tIns="0" rIns="0" bIns="0" rtlCol="0" anchor="ctr"/>
          <a:lstStyle/>
          <a:p>
            <a:pPr algn="ctr" indent="0" marL="0">
              <a:buNone/>
            </a:pPr>
            <a:r>
              <a:rPr lang="en-US" sz="1400" b="1" dirty="0">
                <a:solidFill>
                  <a:schemeClr val="tx2"/>
                </a:solidFill>
              </a:rPr>
              <a:t>Q1</a:t>
            </a:r>
            <a:endParaRPr lang="en-US" sz="1400" dirty="0"/>
          </a:p>
        </p:txBody>
      </p:sp>
      <p:pic>
        <p:nvPicPr>
          <p:cNvPr id="5" name="screenshot" descr="img/f_deleted.png">    </p:cNvPr>
          <p:cNvPicPr>
            <a:picLocks noChangeAspect="1"/>
          </p:cNvPicPr>
          <p:nvPr/>
        </p:nvPicPr>
        <p:blipFill>
          <a:blip r:embed="rId1"/>
          <a:stretch>
            <a:fillRect/>
          </a:stretch>
        </p:blipFill>
        <p:spPr>
          <a:xfrm>
            <a:off x="457200" y="1087558"/>
            <a:ext cx="5577840" cy="3494164"/>
          </a:xfrm>
          <a:prstGeom prst="rect">
            <a:avLst/>
          </a:prstGeom>
          <a:effectLst>
            <a:outerShdw sx="100000" sy="100000" kx="0" ky="0" algn="bl" rotWithShape="0" blurRad="50800" dist="25400" dir="5400000">
              <a:srgbClr val="000000">
                <a:alpha val="25000"/>
              </a:srgbClr>
            </a:outerShdw>
          </a:effectLst>
        </p:spPr>
      </p:pic>
      <p:sp>
        <p:nvSpPr>
          <p:cNvPr id="6" name="tag"/>
          <p:cNvSpPr/>
          <p:nvPr/>
        </p:nvSpPr>
        <p:spPr>
          <a:xfrm>
            <a:off x="6263640" y="1051560"/>
            <a:ext cx="2423160" cy="292608"/>
          </a:xfrm>
          <a:prstGeom prst="roundRect">
            <a:avLst>
              <a:gd name="adj" fmla="val 18750"/>
            </a:avLst>
          </a:prstGeom>
          <a:solidFill>
            <a:schemeClr val="accent2"/>
          </a:solidFill>
          <a:ln w="12700">
            <a:solidFill>
              <a:schemeClr val="accent2"/>
            </a:solidFill>
            <a:prstDash val="solid"/>
          </a:ln>
        </p:spPr>
      </p:sp>
      <p:sp>
        <p:nvSpPr>
          <p:cNvPr id="7" name="Text 4"/>
          <p:cNvSpPr txBox="1"/>
          <p:nvPr/>
        </p:nvSpPr>
        <p:spPr>
          <a:xfrm>
            <a:off x="6263640" y="1051560"/>
            <a:ext cx="2423160" cy="292608"/>
          </a:xfrm>
          <a:prstGeom prst="rect">
            <a:avLst/>
          </a:prstGeom>
          <a:noFill/>
          <a:ln/>
        </p:spPr>
        <p:txBody>
          <a:bodyPr wrap="square" lIns="0" tIns="0" rIns="0" bIns="0" rtlCol="0" anchor="ctr"/>
          <a:lstStyle/>
          <a:p>
            <a:pPr algn="ctr" indent="0" marL="0">
              <a:buNone/>
            </a:pPr>
            <a:r>
              <a:rPr lang="en-US" sz="1100" b="1" dirty="0">
                <a:solidFill>
                  <a:schemeClr val="bg1"/>
                </a:solidFill>
              </a:rPr>
              <a:t>DELETED · RECOVERED</a:t>
            </a:r>
            <a:endParaRPr lang="en-US" sz="1100" dirty="0"/>
          </a:p>
        </p:txBody>
      </p:sp>
      <p:sp>
        <p:nvSpPr>
          <p:cNvPr id="8" name="Text 5"/>
          <p:cNvSpPr txBox="1"/>
          <p:nvPr/>
        </p:nvSpPr>
        <p:spPr>
          <a:xfrm>
            <a:off x="6263640" y="1508760"/>
            <a:ext cx="2423160" cy="31089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Deleted Files lists 2 files marked with a red X</a:t>
            </a:r>
            <a:endParaRPr lang="en-US" sz="1300" dirty="0"/>
          </a:p>
          <a:p>
            <a:pPr marL="177800" indent="-177800">
              <a:spcAft>
                <a:spcPts val="600"/>
              </a:spcAft>
              <a:buSzPct val="100000"/>
              <a:buChar char="•"/>
            </a:pPr>
            <a:r>
              <a:rPr lang="en-US" sz="1300" dirty="0">
                <a:solidFill>
                  <a:schemeClr val="tx1"/>
                </a:solidFill>
              </a:rPr>
              <a:t>email_draft.txt: “Attaching the Falcon design and the BOM… transfer the agreed amount”</a:t>
            </a:r>
            <a:endParaRPr lang="en-US" sz="1300" dirty="0"/>
          </a:p>
          <a:p>
            <a:pPr marL="177800" indent="-177800">
              <a:spcAft>
                <a:spcPts val="600"/>
              </a:spcAft>
              <a:buSzPct val="100000"/>
              <a:buChar char="•"/>
            </a:pPr>
            <a:r>
              <a:rPr lang="en-US" sz="1300" dirty="0">
                <a:solidFill>
                  <a:schemeClr val="tx1"/>
                </a:solidFill>
              </a:rPr>
              <a:t>Addressed to arjun.k@rivaltech.test</a:t>
            </a:r>
            <a:endParaRPr lang="en-US" sz="1300" dirty="0"/>
          </a:p>
          <a:p>
            <a:pPr marL="177800" indent="-177800">
              <a:spcAft>
                <a:spcPts val="600"/>
              </a:spcAft>
              <a:buSzPct val="100000"/>
              <a:buChar char="•"/>
            </a:pPr>
            <a:r>
              <a:rPr lang="en-US" sz="1300" dirty="0">
                <a:solidFill>
                  <a:schemeClr val="tx1"/>
                </a:solidFill>
              </a:rPr>
              <a:t>FAT only marks the entry deleted — data stays until overwritten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 PDF pretending to be music</a:t>
            </a:r>
            <a:endParaRPr lang="en-US" sz="2800" dirty="0"/>
          </a:p>
        </p:txBody>
      </p:sp>
      <p:sp>
        <p:nvSpPr>
          <p:cNvPr id="3" name="question chip"/>
          <p:cNvSpPr/>
          <p:nvPr/>
        </p:nvSpPr>
        <p:spPr>
          <a:xfrm>
            <a:off x="8001000" y="347472"/>
            <a:ext cx="685800" cy="384048"/>
          </a:xfrm>
          <a:prstGeom prst="roundRect">
            <a:avLst>
              <a:gd name="adj" fmla="val 14286"/>
            </a:avLst>
          </a:prstGeom>
          <a:solidFill>
            <a:schemeClr val="accent1"/>
          </a:solidFill>
          <a:ln w="12700">
            <a:solidFill>
              <a:schemeClr val="accent1"/>
            </a:solidFill>
            <a:prstDash val="solid"/>
          </a:ln>
        </p:spPr>
      </p:sp>
      <p:sp>
        <p:nvSpPr>
          <p:cNvPr id="4" name="Text 2"/>
          <p:cNvSpPr txBox="1"/>
          <p:nvPr/>
        </p:nvSpPr>
        <p:spPr>
          <a:xfrm>
            <a:off x="8001000" y="347472"/>
            <a:ext cx="685800" cy="384048"/>
          </a:xfrm>
          <a:prstGeom prst="rect">
            <a:avLst/>
          </a:prstGeom>
          <a:noFill/>
          <a:ln/>
        </p:spPr>
        <p:txBody>
          <a:bodyPr wrap="square" lIns="0" tIns="0" rIns="0" bIns="0" rtlCol="0" anchor="ctr"/>
          <a:lstStyle/>
          <a:p>
            <a:pPr algn="ctr" indent="0" marL="0">
              <a:buNone/>
            </a:pPr>
            <a:r>
              <a:rPr lang="en-US" sz="1400" b="1" dirty="0">
                <a:solidFill>
                  <a:schemeClr val="tx2"/>
                </a:solidFill>
              </a:rPr>
              <a:t>Q1</a:t>
            </a:r>
            <a:endParaRPr lang="en-US" sz="1400" dirty="0"/>
          </a:p>
        </p:txBody>
      </p:sp>
      <p:pic>
        <p:nvPicPr>
          <p:cNvPr id="5" name="screenshot" descr="img/f_mismatch.png">    </p:cNvPr>
          <p:cNvPicPr>
            <a:picLocks noChangeAspect="1"/>
          </p:cNvPicPr>
          <p:nvPr/>
        </p:nvPicPr>
        <p:blipFill>
          <a:blip r:embed="rId1"/>
          <a:stretch>
            <a:fillRect/>
          </a:stretch>
        </p:blipFill>
        <p:spPr>
          <a:xfrm>
            <a:off x="564543" y="1005840"/>
            <a:ext cx="8014915" cy="2468880"/>
          </a:xfrm>
          <a:prstGeom prst="rect">
            <a:avLst/>
          </a:prstGeom>
          <a:effectLst>
            <a:outerShdw sx="100000" sy="100000" kx="0" ky="0" algn="bl" rotWithShape="0" blurRad="50800" dist="25400" dir="5400000">
              <a:srgbClr val="000000">
                <a:alpha val="25000"/>
              </a:srgbClr>
            </a:outerShdw>
          </a:effectLst>
        </p:spPr>
      </p:pic>
      <p:sp>
        <p:nvSpPr>
          <p:cNvPr id="6" name="tag"/>
          <p:cNvSpPr/>
          <p:nvPr/>
        </p:nvSpPr>
        <p:spPr>
          <a:xfrm>
            <a:off x="457200" y="3749040"/>
            <a:ext cx="2423160" cy="292608"/>
          </a:xfrm>
          <a:prstGeom prst="roundRect">
            <a:avLst>
              <a:gd name="adj" fmla="val 18750"/>
            </a:avLst>
          </a:prstGeom>
          <a:solidFill>
            <a:srgbClr val="F2A900"/>
          </a:solidFill>
          <a:ln w="12700">
            <a:solidFill>
              <a:srgbClr val="F2A900"/>
            </a:solidFill>
            <a:prstDash val="solid"/>
          </a:ln>
        </p:spPr>
      </p:sp>
      <p:sp>
        <p:nvSpPr>
          <p:cNvPr id="7" name="Text 4"/>
          <p:cNvSpPr txBox="1"/>
          <p:nvPr/>
        </p:nvSpPr>
        <p:spPr>
          <a:xfrm>
            <a:off x="457200" y="3749040"/>
            <a:ext cx="2423160" cy="292608"/>
          </a:xfrm>
          <a:prstGeom prst="rect">
            <a:avLst/>
          </a:prstGeom>
          <a:noFill/>
          <a:ln/>
        </p:spPr>
        <p:txBody>
          <a:bodyPr wrap="square" lIns="0" tIns="0" rIns="0" bIns="0" rtlCol="0" anchor="ctr"/>
          <a:lstStyle/>
          <a:p>
            <a:pPr algn="ctr" indent="0" marL="0">
              <a:buNone/>
            </a:pPr>
            <a:r>
              <a:rPr lang="en-US" sz="1100" b="1" dirty="0">
                <a:solidFill>
                  <a:schemeClr val="bg1"/>
                </a:solidFill>
              </a:rPr>
              <a:t>DISGUISED FILE</a:t>
            </a:r>
            <a:endParaRPr lang="en-US" sz="1100" dirty="0"/>
          </a:p>
        </p:txBody>
      </p:sp>
      <p:sp>
        <p:nvSpPr>
          <p:cNvPr id="8" name="Text 5"/>
          <p:cNvSpPr txBox="1"/>
          <p:nvPr/>
        </p:nvSpPr>
        <p:spPr>
          <a:xfrm>
            <a:off x="3108960" y="3749040"/>
            <a:ext cx="2697480" cy="868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track01.mp3 flagged Likely Notable</a:t>
            </a:r>
            <a:endParaRPr lang="en-US" sz="1300" dirty="0"/>
          </a:p>
          <a:p>
            <a:pPr marL="177800" indent="-177800">
              <a:spcAft>
                <a:spcPts val="600"/>
              </a:spcAft>
              <a:buSzPct val="100000"/>
              <a:buChar char="•"/>
            </a:pPr>
            <a:r>
              <a:rPr lang="en-US" sz="1300" dirty="0">
                <a:solidFill>
                  <a:schemeClr val="tx1"/>
                </a:solidFill>
              </a:rPr>
              <a:t>Detected MIME type: application/pdf</a:t>
            </a:r>
            <a:endParaRPr lang="en-US" sz="1300" dirty="0"/>
          </a:p>
        </p:txBody>
      </p:sp>
      <p:sp>
        <p:nvSpPr>
          <p:cNvPr id="9" name="Text 6"/>
          <p:cNvSpPr txBox="1"/>
          <p:nvPr/>
        </p:nvSpPr>
        <p:spPr>
          <a:xfrm>
            <a:off x="5989320" y="3749040"/>
            <a:ext cx="2697480" cy="868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Content: Project Falcon – Wiring Schematics</a:t>
            </a:r>
            <a:endParaRPr lang="en-US" sz="1300" dirty="0"/>
          </a:p>
          <a:p>
            <a:pPr marL="177800" indent="-177800">
              <a:spcAft>
                <a:spcPts val="600"/>
              </a:spcAft>
              <a:buSzPct val="100000"/>
              <a:buChar char="•"/>
            </a:pPr>
            <a:r>
              <a:rPr lang="en-US" sz="1300" dirty="0">
                <a:solidFill>
                  <a:schemeClr val="tx1"/>
                </a:solidFill>
              </a:rPr>
              <a:t>Type comes from the file signature (%PDF), not the extension</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Keyword search connects the dots</a:t>
            </a:r>
            <a:endParaRPr lang="en-US" sz="2800" dirty="0"/>
          </a:p>
        </p:txBody>
      </p:sp>
      <p:sp>
        <p:nvSpPr>
          <p:cNvPr id="3" name="question chip"/>
          <p:cNvSpPr/>
          <p:nvPr/>
        </p:nvSpPr>
        <p:spPr>
          <a:xfrm>
            <a:off x="8001000" y="347472"/>
            <a:ext cx="685800" cy="384048"/>
          </a:xfrm>
          <a:prstGeom prst="roundRect">
            <a:avLst>
              <a:gd name="adj" fmla="val 14286"/>
            </a:avLst>
          </a:prstGeom>
          <a:solidFill>
            <a:schemeClr val="accent1"/>
          </a:solidFill>
          <a:ln w="12700">
            <a:solidFill>
              <a:schemeClr val="accent1"/>
            </a:solidFill>
            <a:prstDash val="solid"/>
          </a:ln>
        </p:spPr>
      </p:sp>
      <p:sp>
        <p:nvSpPr>
          <p:cNvPr id="4" name="Text 2"/>
          <p:cNvSpPr txBox="1"/>
          <p:nvPr/>
        </p:nvSpPr>
        <p:spPr>
          <a:xfrm>
            <a:off x="8001000" y="347472"/>
            <a:ext cx="685800" cy="384048"/>
          </a:xfrm>
          <a:prstGeom prst="rect">
            <a:avLst/>
          </a:prstGeom>
          <a:noFill/>
          <a:ln/>
        </p:spPr>
        <p:txBody>
          <a:bodyPr wrap="square" lIns="0" tIns="0" rIns="0" bIns="0" rtlCol="0" anchor="ctr"/>
          <a:lstStyle/>
          <a:p>
            <a:pPr algn="ctr" indent="0" marL="0">
              <a:buNone/>
            </a:pPr>
            <a:r>
              <a:rPr lang="en-US" sz="1400" b="1" dirty="0">
                <a:solidFill>
                  <a:schemeClr val="tx2"/>
                </a:solidFill>
              </a:rPr>
              <a:t>Q2</a:t>
            </a:r>
            <a:endParaRPr lang="en-US" sz="1400" dirty="0"/>
          </a:p>
        </p:txBody>
      </p:sp>
      <p:pic>
        <p:nvPicPr>
          <p:cNvPr id="5" name="screenshot" descr="img/f_keyword.png">    </p:cNvPr>
          <p:cNvPicPr>
            <a:picLocks noChangeAspect="1"/>
          </p:cNvPicPr>
          <p:nvPr/>
        </p:nvPicPr>
        <p:blipFill>
          <a:blip r:embed="rId1"/>
          <a:stretch>
            <a:fillRect/>
          </a:stretch>
        </p:blipFill>
        <p:spPr>
          <a:xfrm>
            <a:off x="1533378" y="1005840"/>
            <a:ext cx="6077243" cy="2468880"/>
          </a:xfrm>
          <a:prstGeom prst="rect">
            <a:avLst/>
          </a:prstGeom>
          <a:effectLst>
            <a:outerShdw sx="100000" sy="100000" kx="0" ky="0" algn="bl" rotWithShape="0" blurRad="50800" dist="25400" dir="5400000">
              <a:srgbClr val="000000">
                <a:alpha val="25000"/>
              </a:srgbClr>
            </a:outerShdw>
          </a:effectLst>
        </p:spPr>
      </p:pic>
      <p:sp>
        <p:nvSpPr>
          <p:cNvPr id="6" name="tag"/>
          <p:cNvSpPr/>
          <p:nvPr/>
        </p:nvSpPr>
        <p:spPr>
          <a:xfrm>
            <a:off x="457200" y="3749040"/>
            <a:ext cx="2423160" cy="292608"/>
          </a:xfrm>
          <a:prstGeom prst="roundRect">
            <a:avLst>
              <a:gd name="adj" fmla="val 18750"/>
            </a:avLst>
          </a:prstGeom>
          <a:solidFill>
            <a:srgbClr val="2E8B9A"/>
          </a:solidFill>
          <a:ln w="12700">
            <a:solidFill>
              <a:srgbClr val="2E8B9A"/>
            </a:solidFill>
            <a:prstDash val="solid"/>
          </a:ln>
        </p:spPr>
      </p:sp>
      <p:sp>
        <p:nvSpPr>
          <p:cNvPr id="7" name="Text 4"/>
          <p:cNvSpPr txBox="1"/>
          <p:nvPr/>
        </p:nvSpPr>
        <p:spPr>
          <a:xfrm>
            <a:off x="457200" y="3749040"/>
            <a:ext cx="2423160" cy="292608"/>
          </a:xfrm>
          <a:prstGeom prst="rect">
            <a:avLst/>
          </a:prstGeom>
          <a:noFill/>
          <a:ln/>
        </p:spPr>
        <p:txBody>
          <a:bodyPr wrap="square" lIns="0" tIns="0" rIns="0" bIns="0" rtlCol="0" anchor="ctr"/>
          <a:lstStyle/>
          <a:p>
            <a:pPr algn="ctr" indent="0" marL="0">
              <a:buNone/>
            </a:pPr>
            <a:r>
              <a:rPr lang="en-US" sz="1100" b="1" dirty="0">
                <a:solidFill>
                  <a:schemeClr val="bg1"/>
                </a:solidFill>
              </a:rPr>
              <a:t>14 KEYWORD HITS</a:t>
            </a:r>
            <a:endParaRPr lang="en-US" sz="1100" dirty="0"/>
          </a:p>
        </p:txBody>
      </p:sp>
      <p:sp>
        <p:nvSpPr>
          <p:cNvPr id="8" name="Text 5"/>
          <p:cNvSpPr txBox="1"/>
          <p:nvPr/>
        </p:nvSpPr>
        <p:spPr>
          <a:xfrm>
            <a:off x="3108960" y="3749040"/>
            <a:ext cx="2697480" cy="868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falcon (9), confidential (3), transfer (2)</a:t>
            </a:r>
            <a:endParaRPr lang="en-US" sz="1300" dirty="0"/>
          </a:p>
          <a:p>
            <a:pPr marL="177800" indent="-177800">
              <a:spcAft>
                <a:spcPts val="600"/>
              </a:spcAft>
              <a:buSzPct val="100000"/>
              <a:buChar char="•"/>
            </a:pPr>
            <a:r>
              <a:rPr lang="en-US" sz="1300" dirty="0">
                <a:solidFill>
                  <a:schemeClr val="tx1"/>
                </a:solidFill>
              </a:rPr>
              <a:t>Hits inside the deleted draft, the ZIP, file slack and unallocated space</a:t>
            </a:r>
            <a:endParaRPr lang="en-US" sz="1300" dirty="0"/>
          </a:p>
        </p:txBody>
      </p:sp>
      <p:sp>
        <p:nvSpPr>
          <p:cNvPr id="9" name="Text 6"/>
          <p:cNvSpPr txBox="1"/>
          <p:nvPr/>
        </p:nvSpPr>
        <p:spPr>
          <a:xfrm>
            <a:off x="5989320" y="3749040"/>
            <a:ext cx="2697480" cy="86868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todo.txt is the plan: copy → rename → send → delete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A regex finds who it was going to</a:t>
            </a:r>
            <a:endParaRPr lang="en-US" sz="2800" dirty="0"/>
          </a:p>
        </p:txBody>
      </p:sp>
      <p:sp>
        <p:nvSpPr>
          <p:cNvPr id="3" name="question chip"/>
          <p:cNvSpPr/>
          <p:nvPr/>
        </p:nvSpPr>
        <p:spPr>
          <a:xfrm>
            <a:off x="8001000" y="347472"/>
            <a:ext cx="685800" cy="384048"/>
          </a:xfrm>
          <a:prstGeom prst="roundRect">
            <a:avLst>
              <a:gd name="adj" fmla="val 14286"/>
            </a:avLst>
          </a:prstGeom>
          <a:solidFill>
            <a:schemeClr val="accent1"/>
          </a:solidFill>
          <a:ln w="12700">
            <a:solidFill>
              <a:schemeClr val="accent1"/>
            </a:solidFill>
            <a:prstDash val="solid"/>
          </a:ln>
        </p:spPr>
      </p:sp>
      <p:sp>
        <p:nvSpPr>
          <p:cNvPr id="4" name="Text 2"/>
          <p:cNvSpPr txBox="1"/>
          <p:nvPr/>
        </p:nvSpPr>
        <p:spPr>
          <a:xfrm>
            <a:off x="8001000" y="347472"/>
            <a:ext cx="685800" cy="384048"/>
          </a:xfrm>
          <a:prstGeom prst="rect">
            <a:avLst/>
          </a:prstGeom>
          <a:noFill/>
          <a:ln/>
        </p:spPr>
        <p:txBody>
          <a:bodyPr wrap="square" lIns="0" tIns="0" rIns="0" bIns="0" rtlCol="0" anchor="ctr"/>
          <a:lstStyle/>
          <a:p>
            <a:pPr algn="ctr" indent="0" marL="0">
              <a:buNone/>
            </a:pPr>
            <a:r>
              <a:rPr lang="en-US" sz="1400" b="1" dirty="0">
                <a:solidFill>
                  <a:schemeClr val="tx2"/>
                </a:solidFill>
              </a:rPr>
              <a:t>Q2</a:t>
            </a:r>
            <a:endParaRPr lang="en-US" sz="1400" dirty="0"/>
          </a:p>
        </p:txBody>
      </p:sp>
      <p:pic>
        <p:nvPicPr>
          <p:cNvPr id="5" name="screenshot" descr="img/f_regex.png">    </p:cNvPr>
          <p:cNvPicPr>
            <a:picLocks noChangeAspect="1"/>
          </p:cNvPicPr>
          <p:nvPr/>
        </p:nvPicPr>
        <p:blipFill>
          <a:blip r:embed="rId1"/>
          <a:stretch>
            <a:fillRect/>
          </a:stretch>
        </p:blipFill>
        <p:spPr>
          <a:xfrm>
            <a:off x="457200" y="1376090"/>
            <a:ext cx="8229600" cy="859699"/>
          </a:xfrm>
          <a:prstGeom prst="rect">
            <a:avLst/>
          </a:prstGeom>
          <a:effectLst>
            <a:outerShdw sx="100000" sy="100000" kx="0" ky="0" algn="bl" rotWithShape="0" blurRad="50800" dist="25400" dir="5400000">
              <a:srgbClr val="000000">
                <a:alpha val="25000"/>
              </a:srgbClr>
            </a:outerShdw>
          </a:effectLst>
        </p:spPr>
      </p:pic>
      <p:sp>
        <p:nvSpPr>
          <p:cNvPr id="6" name="tag"/>
          <p:cNvSpPr/>
          <p:nvPr/>
        </p:nvSpPr>
        <p:spPr>
          <a:xfrm>
            <a:off x="457200" y="2510110"/>
            <a:ext cx="2423160" cy="292608"/>
          </a:xfrm>
          <a:prstGeom prst="roundRect">
            <a:avLst>
              <a:gd name="adj" fmla="val 18750"/>
            </a:avLst>
          </a:prstGeom>
          <a:solidFill>
            <a:srgbClr val="2E8B9A"/>
          </a:solidFill>
          <a:ln w="12700">
            <a:solidFill>
              <a:srgbClr val="2E8B9A"/>
            </a:solidFill>
            <a:prstDash val="solid"/>
          </a:ln>
        </p:spPr>
      </p:sp>
      <p:sp>
        <p:nvSpPr>
          <p:cNvPr id="7" name="Text 4"/>
          <p:cNvSpPr txBox="1"/>
          <p:nvPr/>
        </p:nvSpPr>
        <p:spPr>
          <a:xfrm>
            <a:off x="457200" y="2510110"/>
            <a:ext cx="2423160" cy="292608"/>
          </a:xfrm>
          <a:prstGeom prst="rect">
            <a:avLst/>
          </a:prstGeom>
          <a:noFill/>
          <a:ln/>
        </p:spPr>
        <p:txBody>
          <a:bodyPr wrap="square" lIns="0" tIns="0" rIns="0" bIns="0" rtlCol="0" anchor="ctr"/>
          <a:lstStyle/>
          <a:p>
            <a:pPr algn="ctr" indent="0" marL="0">
              <a:buNone/>
            </a:pPr>
            <a:r>
              <a:rPr lang="en-US" sz="1100" b="1" dirty="0">
                <a:solidFill>
                  <a:schemeClr val="bg1"/>
                </a:solidFill>
              </a:rPr>
              <a:t>E-MAIL ADDRESSES</a:t>
            </a:r>
            <a:endParaRPr lang="en-US" sz="1100" dirty="0"/>
          </a:p>
        </p:txBody>
      </p:sp>
      <p:sp>
        <p:nvSpPr>
          <p:cNvPr id="8" name="Text 5"/>
          <p:cNvSpPr txBox="1"/>
          <p:nvPr/>
        </p:nvSpPr>
        <p:spPr>
          <a:xfrm>
            <a:off x="3108960" y="2510110"/>
            <a:ext cx="2697480" cy="210761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Pattern: [a-z0-9._%+-]+@[a-z0-9.-]+\.[a-z]{2,}</a:t>
            </a:r>
            <a:endParaRPr lang="en-US" sz="1300" dirty="0"/>
          </a:p>
          <a:p>
            <a:pPr marL="177800" indent="-177800">
              <a:spcAft>
                <a:spcPts val="600"/>
              </a:spcAft>
              <a:buSzPct val="100000"/>
              <a:buChar char="•"/>
            </a:pPr>
            <a:r>
              <a:rPr lang="en-US" sz="1300" dirty="0">
                <a:solidFill>
                  <a:schemeClr val="tx1"/>
                </a:solidFill>
              </a:rPr>
              <a:t>Recipient: arjun.k@rivaltech.test</a:t>
            </a:r>
            <a:endParaRPr lang="en-US" sz="1300" dirty="0"/>
          </a:p>
        </p:txBody>
      </p:sp>
      <p:sp>
        <p:nvSpPr>
          <p:cNvPr id="9" name="Text 6"/>
          <p:cNvSpPr txBox="1"/>
          <p:nvPr/>
        </p:nvSpPr>
        <p:spPr>
          <a:xfrm>
            <a:off x="5989320" y="2510110"/>
            <a:ext cx="2697480" cy="210761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1"/>
                </a:solidFill>
              </a:rPr>
              <a:t>Sender: r.mehta.personal@mailbox.test</a:t>
            </a:r>
            <a:endParaRPr lang="en-US" sz="1300" dirty="0"/>
          </a:p>
          <a:p>
            <a:pPr marL="177800" indent="-177800">
              <a:spcAft>
                <a:spcPts val="600"/>
              </a:spcAft>
              <a:buSzPct val="100000"/>
              <a:buChar char="•"/>
            </a:pPr>
            <a:r>
              <a:rPr lang="en-US" sz="1300" dirty="0">
                <a:solidFill>
                  <a:schemeClr val="tx1"/>
                </a:solidFill>
              </a:rPr>
              <a:t>Found in todo.txt, the deleted draft and unallocated space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Photos and archives tell more</a:t>
            </a:r>
            <a:endParaRPr lang="en-US" sz="2800" dirty="0"/>
          </a:p>
        </p:txBody>
      </p:sp>
      <p:sp>
        <p:nvSpPr>
          <p:cNvPr id="3" name="question chip"/>
          <p:cNvSpPr/>
          <p:nvPr/>
        </p:nvSpPr>
        <p:spPr>
          <a:xfrm>
            <a:off x="8001000" y="347472"/>
            <a:ext cx="685800" cy="384048"/>
          </a:xfrm>
          <a:prstGeom prst="roundRect">
            <a:avLst>
              <a:gd name="adj" fmla="val 14286"/>
            </a:avLst>
          </a:prstGeom>
          <a:solidFill>
            <a:schemeClr val="accent1"/>
          </a:solidFill>
          <a:ln w="12700">
            <a:solidFill>
              <a:schemeClr val="accent1"/>
            </a:solidFill>
            <a:prstDash val="solid"/>
          </a:ln>
        </p:spPr>
      </p:sp>
      <p:sp>
        <p:nvSpPr>
          <p:cNvPr id="4" name="Text 2"/>
          <p:cNvSpPr txBox="1"/>
          <p:nvPr/>
        </p:nvSpPr>
        <p:spPr>
          <a:xfrm>
            <a:off x="8001000" y="347472"/>
            <a:ext cx="685800" cy="384048"/>
          </a:xfrm>
          <a:prstGeom prst="rect">
            <a:avLst/>
          </a:prstGeom>
          <a:noFill/>
          <a:ln/>
        </p:spPr>
        <p:txBody>
          <a:bodyPr wrap="square" lIns="0" tIns="0" rIns="0" bIns="0" rtlCol="0" anchor="ctr"/>
          <a:lstStyle/>
          <a:p>
            <a:pPr algn="ctr" indent="0" marL="0">
              <a:buNone/>
            </a:pPr>
            <a:r>
              <a:rPr lang="en-US" sz="1400" b="1" dirty="0">
                <a:solidFill>
                  <a:schemeClr val="tx2"/>
                </a:solidFill>
              </a:rPr>
              <a:t>Q3</a:t>
            </a:r>
            <a:endParaRPr lang="en-US" sz="1400" dirty="0"/>
          </a:p>
        </p:txBody>
      </p:sp>
      <p:pic>
        <p:nvPicPr>
          <p:cNvPr id="5" name="exif table" descr="img/f_exif.png">    </p:cNvPr>
          <p:cNvPicPr>
            <a:picLocks noChangeAspect="1"/>
          </p:cNvPicPr>
          <p:nvPr/>
        </p:nvPicPr>
        <p:blipFill>
          <a:blip r:embed="rId1"/>
          <a:stretch>
            <a:fillRect/>
          </a:stretch>
        </p:blipFill>
        <p:spPr>
          <a:xfrm>
            <a:off x="457200" y="1126263"/>
            <a:ext cx="8229600" cy="536394"/>
          </a:xfrm>
          <a:prstGeom prst="rect">
            <a:avLst/>
          </a:prstGeom>
          <a:effectLst>
            <a:outerShdw sx="100000" sy="100000" kx="0" ky="0" algn="bl" rotWithShape="0" blurRad="50800" dist="25400" dir="5400000">
              <a:srgbClr val="000000">
                <a:alpha val="25000"/>
              </a:srgbClr>
            </a:outerShdw>
          </a:effectLst>
        </p:spPr>
      </p:pic>
      <p:pic>
        <p:nvPicPr>
          <p:cNvPr id="6" name="zip extracted" descr="img/f_zip.png">    </p:cNvPr>
          <p:cNvPicPr>
            <a:picLocks noChangeAspect="1"/>
          </p:cNvPicPr>
          <p:nvPr/>
        </p:nvPicPr>
        <p:blipFill>
          <a:blip r:embed="rId2"/>
          <a:stretch>
            <a:fillRect/>
          </a:stretch>
        </p:blipFill>
        <p:spPr>
          <a:xfrm>
            <a:off x="826180" y="1965960"/>
            <a:ext cx="4108361" cy="2651760"/>
          </a:xfrm>
          <a:prstGeom prst="rect">
            <a:avLst/>
          </a:prstGeom>
          <a:effectLst>
            <a:outerShdw sx="100000" sy="100000" kx="0" ky="0" algn="bl" rotWithShape="0" blurRad="50800" dist="25400" dir="5400000">
              <a:srgbClr val="000000">
                <a:alpha val="25000"/>
              </a:srgbClr>
            </a:outerShdw>
          </a:effectLst>
        </p:spPr>
      </p:pic>
      <p:sp>
        <p:nvSpPr>
          <p:cNvPr id="7" name="tag"/>
          <p:cNvSpPr/>
          <p:nvPr/>
        </p:nvSpPr>
        <p:spPr>
          <a:xfrm>
            <a:off x="5577840" y="1965960"/>
            <a:ext cx="3108960" cy="292608"/>
          </a:xfrm>
          <a:prstGeom prst="roundRect">
            <a:avLst>
              <a:gd name="adj" fmla="val 18750"/>
            </a:avLst>
          </a:prstGeom>
          <a:solidFill>
            <a:srgbClr val="2E8B9A"/>
          </a:solidFill>
          <a:ln w="12700">
            <a:solidFill>
              <a:srgbClr val="2E8B9A"/>
            </a:solidFill>
            <a:prstDash val="solid"/>
          </a:ln>
        </p:spPr>
      </p:sp>
      <p:sp>
        <p:nvSpPr>
          <p:cNvPr id="8" name="Text 4"/>
          <p:cNvSpPr txBox="1"/>
          <p:nvPr/>
        </p:nvSpPr>
        <p:spPr>
          <a:xfrm>
            <a:off x="5577840" y="1965960"/>
            <a:ext cx="3108960" cy="292608"/>
          </a:xfrm>
          <a:prstGeom prst="rect">
            <a:avLst/>
          </a:prstGeom>
          <a:noFill/>
          <a:ln/>
        </p:spPr>
        <p:txBody>
          <a:bodyPr wrap="square" lIns="0" tIns="0" rIns="0" bIns="0" rtlCol="0" anchor="ctr"/>
          <a:lstStyle/>
          <a:p>
            <a:pPr algn="ctr" indent="0" marL="0">
              <a:buNone/>
            </a:pPr>
            <a:r>
              <a:rPr lang="en-US" sz="1100" b="1" dirty="0">
                <a:solidFill>
                  <a:schemeClr val="bg1"/>
                </a:solidFill>
              </a:rPr>
              <a:t>EXIF + GPS</a:t>
            </a:r>
            <a:endParaRPr lang="en-US" sz="1100" dirty="0"/>
          </a:p>
        </p:txBody>
      </p:sp>
      <p:sp>
        <p:nvSpPr>
          <p:cNvPr id="9" name="Text 5"/>
          <p:cNvSpPr txBox="1"/>
          <p:nvPr/>
        </p:nvSpPr>
        <p:spPr>
          <a:xfrm>
            <a:off x="5577840" y="2377440"/>
            <a:ext cx="3108960" cy="132588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Samsung Galaxy S23 photos</a:t>
            </a:r>
            <a:endParaRPr lang="en-US" sz="1200" dirty="0"/>
          </a:p>
          <a:p>
            <a:pPr marL="177800" indent="-177800">
              <a:spcAft>
                <a:spcPts val="600"/>
              </a:spcAft>
              <a:buSzPct val="100000"/>
              <a:buChar char="•"/>
            </a:pPr>
            <a:r>
              <a:rPr lang="en-US" sz="1200" dirty="0">
                <a:solidFill>
                  <a:schemeClr val="tx1"/>
                </a:solidFill>
              </a:rPr>
              <a:t>11 Oct 18:02 — whiteboard of the Falcon design (12.97 N, 77.59 E)</a:t>
            </a:r>
            <a:endParaRPr lang="en-US" sz="1200" dirty="0"/>
          </a:p>
          <a:p>
            <a:pPr marL="177800" indent="-177800">
              <a:spcAft>
                <a:spcPts val="600"/>
              </a:spcAft>
              <a:buSzPct val="100000"/>
              <a:buChar char="•"/>
            </a:pPr>
            <a:r>
              <a:rPr lang="en-US" sz="1200" dirty="0">
                <a:solidFill>
                  <a:schemeClr val="tx1"/>
                </a:solidFill>
              </a:rPr>
              <a:t>13 Oct 17:30 — café in Indiranagar, hours before the e-mail</a:t>
            </a:r>
            <a:endParaRPr lang="en-US" sz="1200" dirty="0"/>
          </a:p>
        </p:txBody>
      </p:sp>
      <p:sp>
        <p:nvSpPr>
          <p:cNvPr id="10" name="tag"/>
          <p:cNvSpPr/>
          <p:nvPr/>
        </p:nvSpPr>
        <p:spPr>
          <a:xfrm>
            <a:off x="5577840" y="3749040"/>
            <a:ext cx="3108960" cy="292608"/>
          </a:xfrm>
          <a:prstGeom prst="roundRect">
            <a:avLst>
              <a:gd name="adj" fmla="val 18750"/>
            </a:avLst>
          </a:prstGeom>
          <a:solidFill>
            <a:srgbClr val="5B6B82"/>
          </a:solidFill>
          <a:ln w="12700">
            <a:solidFill>
              <a:srgbClr val="5B6B82"/>
            </a:solidFill>
            <a:prstDash val="solid"/>
          </a:ln>
        </p:spPr>
      </p:sp>
      <p:sp>
        <p:nvSpPr>
          <p:cNvPr id="11" name="Text 7"/>
          <p:cNvSpPr txBox="1"/>
          <p:nvPr/>
        </p:nvSpPr>
        <p:spPr>
          <a:xfrm>
            <a:off x="5577840" y="3749040"/>
            <a:ext cx="3108960" cy="292608"/>
          </a:xfrm>
          <a:prstGeom prst="rect">
            <a:avLst/>
          </a:prstGeom>
          <a:noFill/>
          <a:ln/>
        </p:spPr>
        <p:txBody>
          <a:bodyPr wrap="square" lIns="0" tIns="0" rIns="0" bIns="0" rtlCol="0" anchor="ctr"/>
          <a:lstStyle/>
          <a:p>
            <a:pPr algn="ctr" indent="0" marL="0">
              <a:buNone/>
            </a:pPr>
            <a:r>
              <a:rPr lang="en-US" sz="1100" b="1" dirty="0">
                <a:solidFill>
                  <a:schemeClr val="bg1"/>
                </a:solidFill>
              </a:rPr>
              <a:t>ZIP UNPACKED</a:t>
            </a:r>
            <a:endParaRPr lang="en-US" sz="1100" dirty="0"/>
          </a:p>
        </p:txBody>
      </p:sp>
      <p:sp>
        <p:nvSpPr>
          <p:cNvPr id="12" name="Text 8"/>
          <p:cNvSpPr txBox="1"/>
          <p:nvPr/>
        </p:nvSpPr>
        <p:spPr>
          <a:xfrm>
            <a:off x="5577840" y="4160520"/>
            <a:ext cx="3108960" cy="45720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chemeClr val="tx1"/>
                </a:solidFill>
              </a:rPr>
              <a:t>backup_oct.zip → Falcon_BOM.csv: parts, suppliers, costs</a:t>
            </a:r>
            <a:endParaRPr lang="en-US" sz="12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Three days, in order</a:t>
            </a:r>
            <a:endParaRPr lang="en-US" sz="2800" dirty="0"/>
          </a:p>
        </p:txBody>
      </p:sp>
      <p:sp>
        <p:nvSpPr>
          <p:cNvPr id="3" name="question chip"/>
          <p:cNvSpPr/>
          <p:nvPr/>
        </p:nvSpPr>
        <p:spPr>
          <a:xfrm>
            <a:off x="8001000" y="347472"/>
            <a:ext cx="685800" cy="384048"/>
          </a:xfrm>
          <a:prstGeom prst="roundRect">
            <a:avLst>
              <a:gd name="adj" fmla="val 14286"/>
            </a:avLst>
          </a:prstGeom>
          <a:solidFill>
            <a:schemeClr val="accent1"/>
          </a:solidFill>
          <a:ln w="12700">
            <a:solidFill>
              <a:schemeClr val="accent1"/>
            </a:solidFill>
            <a:prstDash val="solid"/>
          </a:ln>
        </p:spPr>
      </p:sp>
      <p:sp>
        <p:nvSpPr>
          <p:cNvPr id="4" name="Text 2"/>
          <p:cNvSpPr txBox="1"/>
          <p:nvPr/>
        </p:nvSpPr>
        <p:spPr>
          <a:xfrm>
            <a:off x="8001000" y="347472"/>
            <a:ext cx="685800" cy="384048"/>
          </a:xfrm>
          <a:prstGeom prst="rect">
            <a:avLst/>
          </a:prstGeom>
          <a:noFill/>
          <a:ln/>
        </p:spPr>
        <p:txBody>
          <a:bodyPr wrap="square" lIns="0" tIns="0" rIns="0" bIns="0" rtlCol="0" anchor="ctr"/>
          <a:lstStyle/>
          <a:p>
            <a:pPr algn="ctr" indent="0" marL="0">
              <a:buNone/>
            </a:pPr>
            <a:r>
              <a:rPr lang="en-US" sz="1400" b="1" dirty="0">
                <a:solidFill>
                  <a:schemeClr val="tx2"/>
                </a:solidFill>
              </a:rPr>
              <a:t>Q3</a:t>
            </a:r>
            <a:endParaRPr lang="en-US" sz="1400" dirty="0"/>
          </a:p>
        </p:txBody>
      </p:sp>
      <p:sp>
        <p:nvSpPr>
          <p:cNvPr id="5" name="day band"/>
          <p:cNvSpPr/>
          <p:nvPr/>
        </p:nvSpPr>
        <p:spPr>
          <a:xfrm>
            <a:off x="457200" y="2487168"/>
            <a:ext cx="1828800" cy="329184"/>
          </a:xfrm>
          <a:prstGeom prst="roundRect">
            <a:avLst>
              <a:gd name="adj" fmla="val 13889"/>
            </a:avLst>
          </a:prstGeom>
          <a:solidFill>
            <a:schemeClr val="tx2"/>
          </a:solidFill>
          <a:ln w="12700">
            <a:solidFill>
              <a:schemeClr val="tx2"/>
            </a:solidFill>
            <a:prstDash val="solid"/>
          </a:ln>
        </p:spPr>
      </p:sp>
      <p:sp>
        <p:nvSpPr>
          <p:cNvPr id="6" name="Text 4"/>
          <p:cNvSpPr txBox="1"/>
          <p:nvPr/>
        </p:nvSpPr>
        <p:spPr>
          <a:xfrm>
            <a:off x="457200" y="2487168"/>
            <a:ext cx="1828800" cy="329184"/>
          </a:xfrm>
          <a:prstGeom prst="rect">
            <a:avLst/>
          </a:prstGeom>
          <a:noFill/>
          <a:ln/>
        </p:spPr>
        <p:txBody>
          <a:bodyPr wrap="square" lIns="0" tIns="0" rIns="0" bIns="0" rtlCol="0" anchor="ctr"/>
          <a:lstStyle/>
          <a:p>
            <a:pPr algn="ctr" indent="0" marL="0">
              <a:buNone/>
            </a:pPr>
            <a:r>
              <a:rPr lang="en-US" sz="1300" b="1" dirty="0">
                <a:solidFill>
                  <a:schemeClr val="bg1"/>
                </a:solidFill>
              </a:rPr>
              <a:t>11 Oct</a:t>
            </a:r>
            <a:endParaRPr lang="en-US" sz="1300" dirty="0"/>
          </a:p>
        </p:txBody>
      </p:sp>
      <p:sp>
        <p:nvSpPr>
          <p:cNvPr id="7" name="day band"/>
          <p:cNvSpPr/>
          <p:nvPr/>
        </p:nvSpPr>
        <p:spPr>
          <a:xfrm>
            <a:off x="2377440" y="2487168"/>
            <a:ext cx="4206240" cy="329184"/>
          </a:xfrm>
          <a:prstGeom prst="roundRect">
            <a:avLst>
              <a:gd name="adj" fmla="val 13889"/>
            </a:avLst>
          </a:prstGeom>
          <a:solidFill>
            <a:schemeClr val="tx2"/>
          </a:solidFill>
          <a:ln w="12700">
            <a:solidFill>
              <a:schemeClr val="tx2"/>
            </a:solidFill>
            <a:prstDash val="solid"/>
          </a:ln>
        </p:spPr>
      </p:sp>
      <p:sp>
        <p:nvSpPr>
          <p:cNvPr id="8" name="Text 6"/>
          <p:cNvSpPr txBox="1"/>
          <p:nvPr/>
        </p:nvSpPr>
        <p:spPr>
          <a:xfrm>
            <a:off x="2377440" y="2487168"/>
            <a:ext cx="4206240" cy="329184"/>
          </a:xfrm>
          <a:prstGeom prst="rect">
            <a:avLst/>
          </a:prstGeom>
          <a:noFill/>
          <a:ln/>
        </p:spPr>
        <p:txBody>
          <a:bodyPr wrap="square" lIns="0" tIns="0" rIns="0" bIns="0" rtlCol="0" anchor="ctr"/>
          <a:lstStyle/>
          <a:p>
            <a:pPr algn="ctr" indent="0" marL="0">
              <a:buNone/>
            </a:pPr>
            <a:r>
              <a:rPr lang="en-US" sz="1300" b="1" dirty="0">
                <a:solidFill>
                  <a:schemeClr val="bg1"/>
                </a:solidFill>
              </a:rPr>
              <a:t>12 Oct</a:t>
            </a:r>
            <a:endParaRPr lang="en-US" sz="1300" dirty="0"/>
          </a:p>
        </p:txBody>
      </p:sp>
      <p:sp>
        <p:nvSpPr>
          <p:cNvPr id="9" name="day band"/>
          <p:cNvSpPr/>
          <p:nvPr/>
        </p:nvSpPr>
        <p:spPr>
          <a:xfrm>
            <a:off x="6675120" y="2487168"/>
            <a:ext cx="2011680" cy="329184"/>
          </a:xfrm>
          <a:prstGeom prst="roundRect">
            <a:avLst>
              <a:gd name="adj" fmla="val 13889"/>
            </a:avLst>
          </a:prstGeom>
          <a:solidFill>
            <a:schemeClr val="tx2"/>
          </a:solidFill>
          <a:ln w="12700">
            <a:solidFill>
              <a:schemeClr val="tx2"/>
            </a:solidFill>
            <a:prstDash val="solid"/>
          </a:ln>
        </p:spPr>
      </p:sp>
      <p:sp>
        <p:nvSpPr>
          <p:cNvPr id="10" name="Text 8"/>
          <p:cNvSpPr txBox="1"/>
          <p:nvPr/>
        </p:nvSpPr>
        <p:spPr>
          <a:xfrm>
            <a:off x="6675120" y="2487168"/>
            <a:ext cx="2011680" cy="329184"/>
          </a:xfrm>
          <a:prstGeom prst="rect">
            <a:avLst/>
          </a:prstGeom>
          <a:noFill/>
          <a:ln/>
        </p:spPr>
        <p:txBody>
          <a:bodyPr wrap="square" lIns="0" tIns="0" rIns="0" bIns="0" rtlCol="0" anchor="ctr"/>
          <a:lstStyle/>
          <a:p>
            <a:pPr algn="ctr" indent="0" marL="0">
              <a:buNone/>
            </a:pPr>
            <a:r>
              <a:rPr lang="en-US" sz="1300" b="1" dirty="0">
                <a:solidFill>
                  <a:schemeClr val="bg1"/>
                </a:solidFill>
              </a:rPr>
              <a:t>13 Oct</a:t>
            </a:r>
            <a:endParaRPr lang="en-US" sz="1300" dirty="0"/>
          </a:p>
        </p:txBody>
      </p:sp>
      <p:sp>
        <p:nvSpPr>
          <p:cNvPr id="11" name="tick"/>
          <p:cNvSpPr/>
          <p:nvPr/>
        </p:nvSpPr>
        <p:spPr>
          <a:xfrm>
            <a:off x="1371600" y="1783080"/>
            <a:ext cx="0" cy="704088"/>
          </a:xfrm>
          <a:prstGeom prst="line">
            <a:avLst/>
          </a:prstGeom>
          <a:noFill/>
          <a:ln w="19050">
            <a:solidFill>
              <a:srgbClr val="2E8B9A"/>
            </a:solidFill>
            <a:prstDash val="solid"/>
          </a:ln>
        </p:spPr>
      </p:sp>
      <p:sp>
        <p:nvSpPr>
          <p:cNvPr id="12" name="event dot"/>
          <p:cNvSpPr/>
          <p:nvPr/>
        </p:nvSpPr>
        <p:spPr>
          <a:xfrm>
            <a:off x="1298448" y="1709928"/>
            <a:ext cx="146304" cy="146304"/>
          </a:xfrm>
          <a:prstGeom prst="ellipse">
            <a:avLst/>
          </a:prstGeom>
          <a:solidFill>
            <a:srgbClr val="2E8B9A"/>
          </a:solidFill>
          <a:ln w="12700">
            <a:solidFill>
              <a:srgbClr val="2E8B9A"/>
            </a:solidFill>
            <a:prstDash val="solid"/>
          </a:ln>
        </p:spPr>
      </p:sp>
      <p:sp>
        <p:nvSpPr>
          <p:cNvPr id="13" name="Text 11"/>
          <p:cNvSpPr txBox="1"/>
          <p:nvPr/>
        </p:nvSpPr>
        <p:spPr>
          <a:xfrm>
            <a:off x="685800" y="960120"/>
            <a:ext cx="1371600" cy="731520"/>
          </a:xfrm>
          <a:prstGeom prst="rect">
            <a:avLst/>
          </a:prstGeom>
          <a:noFill/>
          <a:ln/>
        </p:spPr>
        <p:txBody>
          <a:bodyPr wrap="square" lIns="0" tIns="0" rIns="0" bIns="0" rtlCol="0" anchor="b"/>
          <a:lstStyle/>
          <a:p>
            <a:pPr algn="ctr" indent="0" marL="0">
              <a:buNone/>
            </a:pPr>
            <a:r>
              <a:rPr lang="en-US" sz="1100" b="1" dirty="0">
                <a:solidFill>
                  <a:srgbClr val="2E8B9A"/>
                </a:solidFill>
              </a:rPr>
              <a:t>18:02</a:t>
            </a:r>
            <a:endParaRPr lang="en-US" sz="1100" dirty="0"/>
          </a:p>
          <a:p>
            <a:pPr algn="ctr" indent="0" marL="0">
              <a:buNone/>
            </a:pPr>
            <a:r>
              <a:rPr lang="en-US" sz="1100" dirty="0">
                <a:solidFill>
                  <a:srgbClr val="141B26"/>
                </a:solidFill>
              </a:rPr>
              <a:t>Whiteboard photo of the Falcon design</a:t>
            </a:r>
            <a:endParaRPr lang="en-US" sz="1100" dirty="0"/>
          </a:p>
        </p:txBody>
      </p:sp>
      <p:sp>
        <p:nvSpPr>
          <p:cNvPr id="14" name="tick"/>
          <p:cNvSpPr/>
          <p:nvPr/>
        </p:nvSpPr>
        <p:spPr>
          <a:xfrm>
            <a:off x="2743200" y="2816352"/>
            <a:ext cx="0" cy="658368"/>
          </a:xfrm>
          <a:prstGeom prst="line">
            <a:avLst/>
          </a:prstGeom>
          <a:noFill/>
          <a:ln w="19050">
            <a:solidFill>
              <a:srgbClr val="5B6B82"/>
            </a:solidFill>
            <a:prstDash val="solid"/>
          </a:ln>
        </p:spPr>
      </p:sp>
      <p:sp>
        <p:nvSpPr>
          <p:cNvPr id="15" name="event dot"/>
          <p:cNvSpPr/>
          <p:nvPr/>
        </p:nvSpPr>
        <p:spPr>
          <a:xfrm>
            <a:off x="2670048" y="3401568"/>
            <a:ext cx="146304" cy="146304"/>
          </a:xfrm>
          <a:prstGeom prst="ellipse">
            <a:avLst/>
          </a:prstGeom>
          <a:solidFill>
            <a:srgbClr val="5B6B82"/>
          </a:solidFill>
          <a:ln w="12700">
            <a:solidFill>
              <a:srgbClr val="5B6B82"/>
            </a:solidFill>
            <a:prstDash val="solid"/>
          </a:ln>
        </p:spPr>
      </p:sp>
      <p:sp>
        <p:nvSpPr>
          <p:cNvPr id="16" name="Text 14"/>
          <p:cNvSpPr txBox="1"/>
          <p:nvPr/>
        </p:nvSpPr>
        <p:spPr>
          <a:xfrm>
            <a:off x="2057400" y="3611880"/>
            <a:ext cx="1371600" cy="731520"/>
          </a:xfrm>
          <a:prstGeom prst="rect">
            <a:avLst/>
          </a:prstGeom>
          <a:noFill/>
          <a:ln/>
        </p:spPr>
        <p:txBody>
          <a:bodyPr wrap="square" lIns="0" tIns="0" rIns="0" bIns="0" rtlCol="0" anchor="t"/>
          <a:lstStyle/>
          <a:p>
            <a:pPr algn="ctr" indent="0" marL="0">
              <a:buNone/>
            </a:pPr>
            <a:r>
              <a:rPr lang="en-US" sz="1100" b="1" dirty="0">
                <a:solidFill>
                  <a:srgbClr val="5B6B82"/>
                </a:solidFill>
              </a:rPr>
              <a:t>21:30</a:t>
            </a:r>
            <a:endParaRPr lang="en-US" sz="1100" dirty="0"/>
          </a:p>
          <a:p>
            <a:pPr algn="ctr" indent="0" marL="0">
              <a:buNone/>
            </a:pPr>
            <a:r>
              <a:rPr lang="en-US" sz="1100" dirty="0">
                <a:solidFill>
                  <a:srgbClr val="141B26"/>
                </a:solidFill>
              </a:rPr>
              <a:t>todo.txt — the plan</a:t>
            </a:r>
            <a:endParaRPr lang="en-US" sz="1100" dirty="0"/>
          </a:p>
        </p:txBody>
      </p:sp>
      <p:sp>
        <p:nvSpPr>
          <p:cNvPr id="17" name="tick"/>
          <p:cNvSpPr/>
          <p:nvPr/>
        </p:nvSpPr>
        <p:spPr>
          <a:xfrm>
            <a:off x="3611880" y="1783080"/>
            <a:ext cx="0" cy="704088"/>
          </a:xfrm>
          <a:prstGeom prst="line">
            <a:avLst/>
          </a:prstGeom>
          <a:noFill/>
          <a:ln w="19050">
            <a:solidFill>
              <a:srgbClr val="D7263D"/>
            </a:solidFill>
            <a:prstDash val="solid"/>
          </a:ln>
        </p:spPr>
      </p:sp>
      <p:sp>
        <p:nvSpPr>
          <p:cNvPr id="18" name="event dot"/>
          <p:cNvSpPr/>
          <p:nvPr/>
        </p:nvSpPr>
        <p:spPr>
          <a:xfrm>
            <a:off x="3538728" y="1709928"/>
            <a:ext cx="146304" cy="146304"/>
          </a:xfrm>
          <a:prstGeom prst="ellipse">
            <a:avLst/>
          </a:prstGeom>
          <a:solidFill>
            <a:srgbClr val="D7263D"/>
          </a:solidFill>
          <a:ln w="12700">
            <a:solidFill>
              <a:srgbClr val="D7263D"/>
            </a:solidFill>
            <a:prstDash val="solid"/>
          </a:ln>
        </p:spPr>
      </p:sp>
      <p:sp>
        <p:nvSpPr>
          <p:cNvPr id="19" name="Text 17"/>
          <p:cNvSpPr txBox="1"/>
          <p:nvPr/>
        </p:nvSpPr>
        <p:spPr>
          <a:xfrm>
            <a:off x="2926080" y="960120"/>
            <a:ext cx="1371600" cy="731520"/>
          </a:xfrm>
          <a:prstGeom prst="rect">
            <a:avLst/>
          </a:prstGeom>
          <a:noFill/>
          <a:ln/>
        </p:spPr>
        <p:txBody>
          <a:bodyPr wrap="square" lIns="0" tIns="0" rIns="0" bIns="0" rtlCol="0" anchor="b"/>
          <a:lstStyle/>
          <a:p>
            <a:pPr algn="ctr" indent="0" marL="0">
              <a:buNone/>
            </a:pPr>
            <a:r>
              <a:rPr lang="en-US" sz="1100" b="1" dirty="0">
                <a:solidFill>
                  <a:srgbClr val="D7263D"/>
                </a:solidFill>
              </a:rPr>
              <a:t>21:40</a:t>
            </a:r>
            <a:endParaRPr lang="en-US" sz="1100" dirty="0"/>
          </a:p>
          <a:p>
            <a:pPr algn="ctr" indent="0" marL="0">
              <a:buNone/>
            </a:pPr>
            <a:r>
              <a:rPr lang="en-US" sz="1100" dirty="0">
                <a:solidFill>
                  <a:srgbClr val="141B26"/>
                </a:solidFill>
              </a:rPr>
              <a:t>Design PDF copied</a:t>
            </a:r>
            <a:endParaRPr lang="en-US" sz="1100" dirty="0"/>
          </a:p>
        </p:txBody>
      </p:sp>
      <p:sp>
        <p:nvSpPr>
          <p:cNvPr id="20" name="tick"/>
          <p:cNvSpPr/>
          <p:nvPr/>
        </p:nvSpPr>
        <p:spPr>
          <a:xfrm>
            <a:off x="4480560" y="2816352"/>
            <a:ext cx="0" cy="658368"/>
          </a:xfrm>
          <a:prstGeom prst="line">
            <a:avLst/>
          </a:prstGeom>
          <a:noFill/>
          <a:ln w="19050">
            <a:solidFill>
              <a:srgbClr val="D7263D"/>
            </a:solidFill>
            <a:prstDash val="solid"/>
          </a:ln>
        </p:spPr>
      </p:sp>
      <p:sp>
        <p:nvSpPr>
          <p:cNvPr id="21" name="event dot"/>
          <p:cNvSpPr/>
          <p:nvPr/>
        </p:nvSpPr>
        <p:spPr>
          <a:xfrm>
            <a:off x="4407408" y="3401568"/>
            <a:ext cx="146304" cy="146304"/>
          </a:xfrm>
          <a:prstGeom prst="ellipse">
            <a:avLst/>
          </a:prstGeom>
          <a:solidFill>
            <a:srgbClr val="D7263D"/>
          </a:solidFill>
          <a:ln w="12700">
            <a:solidFill>
              <a:srgbClr val="D7263D"/>
            </a:solidFill>
            <a:prstDash val="solid"/>
          </a:ln>
        </p:spPr>
      </p:sp>
      <p:sp>
        <p:nvSpPr>
          <p:cNvPr id="22" name="Text 20"/>
          <p:cNvSpPr txBox="1"/>
          <p:nvPr/>
        </p:nvSpPr>
        <p:spPr>
          <a:xfrm>
            <a:off x="3794760" y="3611880"/>
            <a:ext cx="1371600" cy="731520"/>
          </a:xfrm>
          <a:prstGeom prst="rect">
            <a:avLst/>
          </a:prstGeom>
          <a:noFill/>
          <a:ln/>
        </p:spPr>
        <p:txBody>
          <a:bodyPr wrap="square" lIns="0" tIns="0" rIns="0" bIns="0" rtlCol="0" anchor="t"/>
          <a:lstStyle/>
          <a:p>
            <a:pPr algn="ctr" indent="0" marL="0">
              <a:buNone/>
            </a:pPr>
            <a:r>
              <a:rPr lang="en-US" sz="1100" b="1" dirty="0">
                <a:solidFill>
                  <a:srgbClr val="D7263D"/>
                </a:solidFill>
              </a:rPr>
              <a:t>21:44</a:t>
            </a:r>
            <a:endParaRPr lang="en-US" sz="1100" dirty="0"/>
          </a:p>
          <a:p>
            <a:pPr algn="ctr" indent="0" marL="0">
              <a:buNone/>
            </a:pPr>
            <a:r>
              <a:rPr lang="en-US" sz="1100" dirty="0">
                <a:solidFill>
                  <a:srgbClr val="141B26"/>
                </a:solidFill>
              </a:rPr>
              <a:t>Schematics saved as track01.mp3</a:t>
            </a:r>
            <a:endParaRPr lang="en-US" sz="1100" dirty="0"/>
          </a:p>
        </p:txBody>
      </p:sp>
      <p:sp>
        <p:nvSpPr>
          <p:cNvPr id="23" name="tick"/>
          <p:cNvSpPr/>
          <p:nvPr/>
        </p:nvSpPr>
        <p:spPr>
          <a:xfrm>
            <a:off x="5440680" y="1783080"/>
            <a:ext cx="0" cy="704088"/>
          </a:xfrm>
          <a:prstGeom prst="line">
            <a:avLst/>
          </a:prstGeom>
          <a:noFill/>
          <a:ln w="19050">
            <a:solidFill>
              <a:srgbClr val="D7263D"/>
            </a:solidFill>
            <a:prstDash val="solid"/>
          </a:ln>
        </p:spPr>
      </p:sp>
      <p:sp>
        <p:nvSpPr>
          <p:cNvPr id="24" name="event dot"/>
          <p:cNvSpPr/>
          <p:nvPr/>
        </p:nvSpPr>
        <p:spPr>
          <a:xfrm>
            <a:off x="5367528" y="1709928"/>
            <a:ext cx="146304" cy="146304"/>
          </a:xfrm>
          <a:prstGeom prst="ellipse">
            <a:avLst/>
          </a:prstGeom>
          <a:solidFill>
            <a:srgbClr val="D7263D"/>
          </a:solidFill>
          <a:ln w="12700">
            <a:solidFill>
              <a:srgbClr val="D7263D"/>
            </a:solidFill>
            <a:prstDash val="solid"/>
          </a:ln>
        </p:spPr>
      </p:sp>
      <p:sp>
        <p:nvSpPr>
          <p:cNvPr id="25" name="Text 23"/>
          <p:cNvSpPr txBox="1"/>
          <p:nvPr/>
        </p:nvSpPr>
        <p:spPr>
          <a:xfrm>
            <a:off x="4754880" y="960120"/>
            <a:ext cx="1371600" cy="731520"/>
          </a:xfrm>
          <a:prstGeom prst="rect">
            <a:avLst/>
          </a:prstGeom>
          <a:noFill/>
          <a:ln/>
        </p:spPr>
        <p:txBody>
          <a:bodyPr wrap="square" lIns="0" tIns="0" rIns="0" bIns="0" rtlCol="0" anchor="b"/>
          <a:lstStyle/>
          <a:p>
            <a:pPr algn="ctr" indent="0" marL="0">
              <a:buNone/>
            </a:pPr>
            <a:r>
              <a:rPr lang="en-US" sz="1100" b="1" dirty="0">
                <a:solidFill>
                  <a:srgbClr val="D7263D"/>
                </a:solidFill>
              </a:rPr>
              <a:t>21:52</a:t>
            </a:r>
            <a:endParaRPr lang="en-US" sz="1100" dirty="0"/>
          </a:p>
          <a:p>
            <a:pPr algn="ctr" indent="0" marL="0">
              <a:buNone/>
            </a:pPr>
            <a:r>
              <a:rPr lang="en-US" sz="1100" dirty="0">
                <a:solidFill>
                  <a:srgbClr val="141B26"/>
                </a:solidFill>
              </a:rPr>
              <a:t>BOM zipped into backup_oct.zip</a:t>
            </a:r>
            <a:endParaRPr lang="en-US" sz="1100" dirty="0"/>
          </a:p>
        </p:txBody>
      </p:sp>
      <p:sp>
        <p:nvSpPr>
          <p:cNvPr id="26" name="tick"/>
          <p:cNvSpPr/>
          <p:nvPr/>
        </p:nvSpPr>
        <p:spPr>
          <a:xfrm>
            <a:off x="7178040" y="2816352"/>
            <a:ext cx="0" cy="658368"/>
          </a:xfrm>
          <a:prstGeom prst="line">
            <a:avLst/>
          </a:prstGeom>
          <a:noFill/>
          <a:ln w="19050">
            <a:solidFill>
              <a:srgbClr val="2E8B9A"/>
            </a:solidFill>
            <a:prstDash val="solid"/>
          </a:ln>
        </p:spPr>
      </p:sp>
      <p:sp>
        <p:nvSpPr>
          <p:cNvPr id="27" name="event dot"/>
          <p:cNvSpPr/>
          <p:nvPr/>
        </p:nvSpPr>
        <p:spPr>
          <a:xfrm>
            <a:off x="7104888" y="3401568"/>
            <a:ext cx="146304" cy="146304"/>
          </a:xfrm>
          <a:prstGeom prst="ellipse">
            <a:avLst/>
          </a:prstGeom>
          <a:solidFill>
            <a:srgbClr val="2E8B9A"/>
          </a:solidFill>
          <a:ln w="12700">
            <a:solidFill>
              <a:srgbClr val="2E8B9A"/>
            </a:solidFill>
            <a:prstDash val="solid"/>
          </a:ln>
        </p:spPr>
      </p:sp>
      <p:sp>
        <p:nvSpPr>
          <p:cNvPr id="28" name="Text 26"/>
          <p:cNvSpPr txBox="1"/>
          <p:nvPr/>
        </p:nvSpPr>
        <p:spPr>
          <a:xfrm>
            <a:off x="6492240" y="3611880"/>
            <a:ext cx="1371600" cy="731520"/>
          </a:xfrm>
          <a:prstGeom prst="rect">
            <a:avLst/>
          </a:prstGeom>
          <a:noFill/>
          <a:ln/>
        </p:spPr>
        <p:txBody>
          <a:bodyPr wrap="square" lIns="0" tIns="0" rIns="0" bIns="0" rtlCol="0" anchor="t"/>
          <a:lstStyle/>
          <a:p>
            <a:pPr algn="ctr" indent="0" marL="0">
              <a:buNone/>
            </a:pPr>
            <a:r>
              <a:rPr lang="en-US" sz="1100" b="1" dirty="0">
                <a:solidFill>
                  <a:srgbClr val="2E8B9A"/>
                </a:solidFill>
              </a:rPr>
              <a:t>17:30</a:t>
            </a:r>
            <a:endParaRPr lang="en-US" sz="1100" dirty="0"/>
          </a:p>
          <a:p>
            <a:pPr algn="ctr" indent="0" marL="0">
              <a:buNone/>
            </a:pPr>
            <a:r>
              <a:rPr lang="en-US" sz="1100" dirty="0">
                <a:solidFill>
                  <a:srgbClr val="141B26"/>
                </a:solidFill>
              </a:rPr>
              <a:t>Café photo, Indiranagar</a:t>
            </a:r>
            <a:endParaRPr lang="en-US" sz="1100" dirty="0"/>
          </a:p>
        </p:txBody>
      </p:sp>
      <p:sp>
        <p:nvSpPr>
          <p:cNvPr id="29" name="tick"/>
          <p:cNvSpPr/>
          <p:nvPr/>
        </p:nvSpPr>
        <p:spPr>
          <a:xfrm>
            <a:off x="8229600" y="1783080"/>
            <a:ext cx="0" cy="704088"/>
          </a:xfrm>
          <a:prstGeom prst="line">
            <a:avLst/>
          </a:prstGeom>
          <a:noFill/>
          <a:ln w="19050">
            <a:solidFill>
              <a:srgbClr val="D7263D"/>
            </a:solidFill>
            <a:prstDash val="solid"/>
          </a:ln>
        </p:spPr>
      </p:sp>
      <p:sp>
        <p:nvSpPr>
          <p:cNvPr id="30" name="event dot"/>
          <p:cNvSpPr/>
          <p:nvPr/>
        </p:nvSpPr>
        <p:spPr>
          <a:xfrm>
            <a:off x="8156448" y="1709928"/>
            <a:ext cx="146304" cy="146304"/>
          </a:xfrm>
          <a:prstGeom prst="ellipse">
            <a:avLst/>
          </a:prstGeom>
          <a:solidFill>
            <a:srgbClr val="D7263D"/>
          </a:solidFill>
          <a:ln w="12700">
            <a:solidFill>
              <a:srgbClr val="D7263D"/>
            </a:solidFill>
            <a:prstDash val="solid"/>
          </a:ln>
        </p:spPr>
      </p:sp>
      <p:sp>
        <p:nvSpPr>
          <p:cNvPr id="31" name="Text 29"/>
          <p:cNvSpPr txBox="1"/>
          <p:nvPr/>
        </p:nvSpPr>
        <p:spPr>
          <a:xfrm>
            <a:off x="7315200" y="960120"/>
            <a:ext cx="1371600" cy="731520"/>
          </a:xfrm>
          <a:prstGeom prst="rect">
            <a:avLst/>
          </a:prstGeom>
          <a:noFill/>
          <a:ln/>
        </p:spPr>
        <p:txBody>
          <a:bodyPr wrap="square" lIns="0" tIns="0" rIns="0" bIns="0" rtlCol="0" anchor="b"/>
          <a:lstStyle/>
          <a:p>
            <a:pPr algn="ctr" indent="0" marL="0">
              <a:buNone/>
            </a:pPr>
            <a:r>
              <a:rPr lang="en-US" sz="1100" b="1" dirty="0">
                <a:solidFill>
                  <a:srgbClr val="D7263D"/>
                </a:solidFill>
              </a:rPr>
              <a:t>22:05</a:t>
            </a:r>
            <a:endParaRPr lang="en-US" sz="1100" dirty="0"/>
          </a:p>
          <a:p>
            <a:pPr algn="ctr" indent="0" marL="0">
              <a:buNone/>
            </a:pPr>
            <a:r>
              <a:rPr lang="en-US" sz="1100" dirty="0">
                <a:solidFill>
                  <a:srgbClr val="141B26"/>
                </a:solidFill>
              </a:rPr>
              <a:t>E-mail draft to the rival</a:t>
            </a:r>
            <a:endParaRPr lang="en-US" sz="1100" dirty="0"/>
          </a:p>
        </p:txBody>
      </p:sp>
      <p:sp>
        <p:nvSpPr>
          <p:cNvPr id="32" name="Text 30"/>
          <p:cNvSpPr txBox="1"/>
          <p:nvPr/>
        </p:nvSpPr>
        <p:spPr>
          <a:xfrm>
            <a:off x="457200" y="4434840"/>
            <a:ext cx="8229600" cy="320040"/>
          </a:xfrm>
          <a:prstGeom prst="rect">
            <a:avLst/>
          </a:prstGeom>
          <a:noFill/>
          <a:ln/>
        </p:spPr>
        <p:txBody>
          <a:bodyPr wrap="square" lIns="0" tIns="0" rIns="0" bIns="0" rtlCol="0" anchor="ctr"/>
          <a:lstStyle/>
          <a:p>
            <a:pPr indent="0" marL="0">
              <a:buNone/>
            </a:pPr>
            <a:r>
              <a:rPr lang="en-US" sz="1100" i="1" dirty="0">
                <a:solidFill>
                  <a:schemeClr val="accent4"/>
                </a:solidFill>
              </a:rPr>
              <a:t>Built from Autopsy’s Timeline (List view, 37 events): file-system times plus EXIF capture times. After this the PDF and e-mail were deleted.</a:t>
            </a:r>
            <a:endParaRPr lang="en-US" sz="11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28600"/>
            <a:ext cx="8229600" cy="64008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Proving integrity and reporting</a:t>
            </a:r>
            <a:endParaRPr lang="en-US" sz="2800" dirty="0"/>
          </a:p>
        </p:txBody>
      </p:sp>
      <p:pic>
        <p:nvPicPr>
          <p:cNvPr id="3" name="integrity verified" descr="img/f_integrity.png">    </p:cNvPr>
          <p:cNvPicPr>
            <a:picLocks noChangeAspect="1"/>
          </p:cNvPicPr>
          <p:nvPr/>
        </p:nvPicPr>
        <p:blipFill>
          <a:blip r:embed="rId1"/>
          <a:stretch>
            <a:fillRect/>
          </a:stretch>
        </p:blipFill>
        <p:spPr>
          <a:xfrm>
            <a:off x="457200" y="1343736"/>
            <a:ext cx="3931920" cy="1518767"/>
          </a:xfrm>
          <a:prstGeom prst="rect">
            <a:avLst/>
          </a:prstGeom>
          <a:effectLst>
            <a:outerShdw sx="100000" sy="100000" kx="0" ky="0" algn="bl" rotWithShape="0" blurRad="50800" dist="25400" dir="5400000">
              <a:srgbClr val="000000">
                <a:alpha val="25000"/>
              </a:srgbClr>
            </a:outerShdw>
          </a:effectLst>
        </p:spPr>
      </p:pic>
      <p:pic>
        <p:nvPicPr>
          <p:cNvPr id="4" name="html report" descr="img/report.png">    </p:cNvPr>
          <p:cNvPicPr>
            <a:picLocks noChangeAspect="1"/>
          </p:cNvPicPr>
          <p:nvPr/>
        </p:nvPicPr>
        <p:blipFill>
          <a:blip r:embed="rId2"/>
          <a:stretch>
            <a:fillRect/>
          </a:stretch>
        </p:blipFill>
        <p:spPr>
          <a:xfrm>
            <a:off x="4754880" y="1243012"/>
            <a:ext cx="3931920" cy="1720215"/>
          </a:xfrm>
          <a:prstGeom prst="rect">
            <a:avLst/>
          </a:prstGeom>
          <a:effectLst>
            <a:outerShdw sx="100000" sy="100000" kx="0" ky="0" algn="bl" rotWithShape="0" blurRad="50800" dist="25400" dir="5400000">
              <a:srgbClr val="000000">
                <a:alpha val="25000"/>
              </a:srgbClr>
            </a:outerShdw>
          </a:effectLst>
        </p:spPr>
      </p:pic>
      <p:pic>
        <p:nvPicPr>
          <p:cNvPr id="5" name="shield" descr="preencoded.png">    </p:cNvPr>
          <p:cNvPicPr>
            <a:picLocks noChangeAspect="1"/>
          </p:cNvPicPr>
          <p:nvPr/>
        </p:nvPicPr>
        <p:blipFill>
          <a:blip r:embed="rId3"/>
          <a:stretch>
            <a:fillRect/>
          </a:stretch>
        </p:blipFill>
        <p:spPr>
          <a:xfrm>
            <a:off x="457200" y="3429000"/>
            <a:ext cx="365760" cy="365760"/>
          </a:xfrm>
          <a:prstGeom prst="rect">
            <a:avLst/>
          </a:prstGeom>
        </p:spPr>
      </p:pic>
      <p:sp>
        <p:nvSpPr>
          <p:cNvPr id="6" name="Text 1"/>
          <p:cNvSpPr txBox="1"/>
          <p:nvPr/>
        </p:nvSpPr>
        <p:spPr>
          <a:xfrm>
            <a:off x="960120" y="3383280"/>
            <a:ext cx="3429000" cy="1097280"/>
          </a:xfrm>
          <a:prstGeom prst="rect">
            <a:avLst/>
          </a:prstGeom>
          <a:noFill/>
          <a:ln/>
        </p:spPr>
        <p:txBody>
          <a:bodyPr wrap="square" lIns="0" tIns="0" rIns="0" bIns="0" rtlCol="0" anchor="t"/>
          <a:lstStyle/>
          <a:p>
            <a:pPr indent="0" marL="0">
              <a:buNone/>
            </a:pPr>
            <a:r>
              <a:rPr lang="en-US" sz="1300" b="1" dirty="0">
                <a:solidFill>
                  <a:schemeClr val="tx1"/>
                </a:solidFill>
              </a:rPr>
              <a:t>Hashes verified. </a:t>
            </a:r>
            <a:pPr indent="0" marL="0">
              <a:buNone/>
            </a:pPr>
            <a:r>
              <a:rPr lang="en-US" sz="1300" dirty="0">
                <a:solidFill>
                  <a:schemeClr val="tx1"/>
                </a:solidFill>
              </a:rPr>
              <a:t>Autopsy recomputed MD5 and SHA-256 — both match the acquisition values, so the evidence is unchanged.</a:t>
            </a:r>
            <a:endParaRPr lang="en-US" sz="1300" dirty="0"/>
          </a:p>
        </p:txBody>
      </p:sp>
      <p:pic>
        <p:nvPicPr>
          <p:cNvPr id="7" name="report icon" descr="preencoded.png">    </p:cNvPr>
          <p:cNvPicPr>
            <a:picLocks noChangeAspect="1"/>
          </p:cNvPicPr>
          <p:nvPr/>
        </p:nvPicPr>
        <p:blipFill>
          <a:blip r:embed="rId4"/>
          <a:stretch>
            <a:fillRect/>
          </a:stretch>
        </p:blipFill>
        <p:spPr>
          <a:xfrm>
            <a:off x="4754880" y="3429000"/>
            <a:ext cx="365760" cy="365760"/>
          </a:xfrm>
          <a:prstGeom prst="rect">
            <a:avLst/>
          </a:prstGeom>
        </p:spPr>
      </p:pic>
      <p:sp>
        <p:nvSpPr>
          <p:cNvPr id="8" name="Text 2"/>
          <p:cNvSpPr txBox="1"/>
          <p:nvPr/>
        </p:nvSpPr>
        <p:spPr>
          <a:xfrm>
            <a:off x="5257800" y="3383280"/>
            <a:ext cx="3429000" cy="1097280"/>
          </a:xfrm>
          <a:prstGeom prst="rect">
            <a:avLst/>
          </a:prstGeom>
          <a:noFill/>
          <a:ln/>
        </p:spPr>
        <p:txBody>
          <a:bodyPr wrap="square" lIns="0" tIns="0" rIns="0" bIns="0" rtlCol="0" anchor="t"/>
          <a:lstStyle/>
          <a:p>
            <a:pPr indent="0" marL="0">
              <a:buNone/>
            </a:pPr>
            <a:r>
              <a:rPr lang="en-US" sz="1300" b="1" dirty="0">
                <a:solidFill>
                  <a:schemeClr val="tx1"/>
                </a:solidFill>
              </a:rPr>
              <a:t>One-click report. </a:t>
            </a:r>
            <a:pPr indent="0" marL="0">
              <a:buNone/>
            </a:pPr>
            <a:r>
              <a:rPr lang="en-US" sz="1300" dirty="0">
                <a:solidFill>
                  <a:schemeClr val="tx1"/>
                </a:solidFill>
              </a:rPr>
              <a:t>Generate Report → HTML gives the case summary and every result category for the case file.</a:t>
            </a:r>
            <a:endParaRPr lang="en-US" sz="1300" dirty="0"/>
          </a:p>
        </p:txBody>
      </p:sp>
      <p:sp>
        <p:nvSpPr>
          <p:cNvPr id="25" name="Slide Number Placeholder 0"/>
          <p:cNvSpPr>
            <a:spLocks noGrp="1"/>
          </p:cNvSpPr>
          <p:nvPr>
            <p:ph type="sldNum" sz="quarter" idx="4294967295"/>
          </p:nvPr>
        </p:nvSpPr>
        <p:spPr>
          <a:xfrm>
            <a:off x="8321040" y="4800600"/>
            <a:ext cx="36576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txBox="1"/>
          <p:nvPr/>
        </p:nvSpPr>
        <p:spPr>
          <a:xfrm>
            <a:off x="548640" y="365760"/>
            <a:ext cx="8046720" cy="640080"/>
          </a:xfrm>
          <a:prstGeom prst="rect">
            <a:avLst/>
          </a:prstGeom>
          <a:noFill/>
          <a:ln/>
        </p:spPr>
        <p:txBody>
          <a:bodyPr wrap="square" lIns="0" tIns="0" rIns="0" bIns="0" rtlCol="0" anchor="ctr"/>
          <a:lstStyle/>
          <a:p>
            <a:pPr indent="0" marL="0">
              <a:buNone/>
            </a:pPr>
            <a:r>
              <a:rPr lang="en-US" sz="3200" b="1" dirty="0">
                <a:solidFill>
                  <a:schemeClr val="bg1"/>
                </a:solidFill>
                <a:latin typeface="Cambria" pitchFamily="34" charset="0"/>
                <a:ea typeface="Cambria" pitchFamily="34" charset="-122"/>
                <a:cs typeface="Cambria" pitchFamily="34" charset="-120"/>
              </a:rPr>
              <a:t>What the drive told us</a:t>
            </a:r>
            <a:endParaRPr lang="en-US" sz="3200" dirty="0"/>
          </a:p>
        </p:txBody>
      </p:sp>
      <p:sp>
        <p:nvSpPr>
          <p:cNvPr id="3" name="answer chip"/>
          <p:cNvSpPr/>
          <p:nvPr/>
        </p:nvSpPr>
        <p:spPr>
          <a:xfrm>
            <a:off x="548640" y="1234440"/>
            <a:ext cx="685800" cy="548640"/>
          </a:xfrm>
          <a:prstGeom prst="roundRect">
            <a:avLst>
              <a:gd name="adj" fmla="val 10000"/>
            </a:avLst>
          </a:prstGeom>
          <a:solidFill>
            <a:schemeClr val="accent1"/>
          </a:solidFill>
          <a:ln w="12700">
            <a:solidFill>
              <a:schemeClr val="accent1"/>
            </a:solidFill>
            <a:prstDash val="solid"/>
          </a:ln>
        </p:spPr>
      </p:sp>
      <p:sp>
        <p:nvSpPr>
          <p:cNvPr id="4" name="Text 2"/>
          <p:cNvSpPr txBox="1"/>
          <p:nvPr/>
        </p:nvSpPr>
        <p:spPr>
          <a:xfrm>
            <a:off x="548640" y="1234440"/>
            <a:ext cx="685800" cy="548640"/>
          </a:xfrm>
          <a:prstGeom prst="rect">
            <a:avLst/>
          </a:prstGeom>
          <a:noFill/>
          <a:ln/>
        </p:spPr>
        <p:txBody>
          <a:bodyPr wrap="square" lIns="0" tIns="0" rIns="0" bIns="0" rtlCol="0" anchor="ctr"/>
          <a:lstStyle/>
          <a:p>
            <a:pPr algn="ctr" indent="0" marL="0">
              <a:buNone/>
            </a:pPr>
            <a:r>
              <a:rPr lang="en-US" sz="1800" b="1" dirty="0">
                <a:solidFill>
                  <a:schemeClr val="tx2"/>
                </a:solidFill>
              </a:rPr>
              <a:t>Q1</a:t>
            </a:r>
            <a:endParaRPr lang="en-US" sz="1800" dirty="0"/>
          </a:p>
        </p:txBody>
      </p:sp>
      <p:sp>
        <p:nvSpPr>
          <p:cNvPr id="5" name="Text 3"/>
          <p:cNvSpPr txBox="1"/>
          <p:nvPr/>
        </p:nvSpPr>
        <p:spPr>
          <a:xfrm>
            <a:off x="1463040" y="1234440"/>
            <a:ext cx="7132320" cy="548640"/>
          </a:xfrm>
          <a:prstGeom prst="rect">
            <a:avLst/>
          </a:prstGeom>
          <a:noFill/>
          <a:ln/>
        </p:spPr>
        <p:txBody>
          <a:bodyPr wrap="square" lIns="0" tIns="0" rIns="0" bIns="0" rtlCol="0" anchor="ctr"/>
          <a:lstStyle/>
          <a:p>
            <a:pPr indent="0" marL="0">
              <a:buNone/>
            </a:pPr>
            <a:r>
              <a:rPr lang="en-US" sz="1600" dirty="0">
                <a:solidFill>
                  <a:schemeClr val="bg1"/>
                </a:solidFill>
              </a:rPr>
              <a:t>Falcon design (deleted), wiring schematics (disguised as MP3) and parts list (inside a ZIP).</a:t>
            </a:r>
            <a:endParaRPr lang="en-US" sz="1600" dirty="0"/>
          </a:p>
        </p:txBody>
      </p:sp>
      <p:sp>
        <p:nvSpPr>
          <p:cNvPr id="6" name="answer chip"/>
          <p:cNvSpPr/>
          <p:nvPr/>
        </p:nvSpPr>
        <p:spPr>
          <a:xfrm>
            <a:off x="548640" y="2103120"/>
            <a:ext cx="685800" cy="548640"/>
          </a:xfrm>
          <a:prstGeom prst="roundRect">
            <a:avLst>
              <a:gd name="adj" fmla="val 10000"/>
            </a:avLst>
          </a:prstGeom>
          <a:solidFill>
            <a:schemeClr val="accent1"/>
          </a:solidFill>
          <a:ln w="12700">
            <a:solidFill>
              <a:schemeClr val="accent1"/>
            </a:solidFill>
            <a:prstDash val="solid"/>
          </a:ln>
        </p:spPr>
      </p:sp>
      <p:sp>
        <p:nvSpPr>
          <p:cNvPr id="7" name="Text 5"/>
          <p:cNvSpPr txBox="1"/>
          <p:nvPr/>
        </p:nvSpPr>
        <p:spPr>
          <a:xfrm>
            <a:off x="548640" y="2103120"/>
            <a:ext cx="685800" cy="548640"/>
          </a:xfrm>
          <a:prstGeom prst="rect">
            <a:avLst/>
          </a:prstGeom>
          <a:noFill/>
          <a:ln/>
        </p:spPr>
        <p:txBody>
          <a:bodyPr wrap="square" lIns="0" tIns="0" rIns="0" bIns="0" rtlCol="0" anchor="ctr"/>
          <a:lstStyle/>
          <a:p>
            <a:pPr algn="ctr" indent="0" marL="0">
              <a:buNone/>
            </a:pPr>
            <a:r>
              <a:rPr lang="en-US" sz="1800" b="1" dirty="0">
                <a:solidFill>
                  <a:schemeClr val="tx2"/>
                </a:solidFill>
              </a:rPr>
              <a:t>Q2</a:t>
            </a:r>
            <a:endParaRPr lang="en-US" sz="1800" dirty="0"/>
          </a:p>
        </p:txBody>
      </p:sp>
      <p:sp>
        <p:nvSpPr>
          <p:cNvPr id="8" name="Text 6"/>
          <p:cNvSpPr txBox="1"/>
          <p:nvPr/>
        </p:nvSpPr>
        <p:spPr>
          <a:xfrm>
            <a:off x="1463040" y="2103120"/>
            <a:ext cx="7132320" cy="548640"/>
          </a:xfrm>
          <a:prstGeom prst="rect">
            <a:avLst/>
          </a:prstGeom>
          <a:noFill/>
          <a:ln/>
        </p:spPr>
        <p:txBody>
          <a:bodyPr wrap="square" lIns="0" tIns="0" rIns="0" bIns="0" rtlCol="0" anchor="ctr"/>
          <a:lstStyle/>
          <a:p>
            <a:pPr indent="0" marL="0">
              <a:buNone/>
            </a:pPr>
            <a:r>
              <a:rPr lang="en-US" sz="1600" dirty="0">
                <a:solidFill>
                  <a:schemeClr val="bg1"/>
                </a:solidFill>
              </a:rPr>
              <a:t>arjun.k@rivaltech.test at a rival firm, in return for “the agreed amount”.</a:t>
            </a:r>
            <a:endParaRPr lang="en-US" sz="1600" dirty="0"/>
          </a:p>
        </p:txBody>
      </p:sp>
      <p:sp>
        <p:nvSpPr>
          <p:cNvPr id="9" name="answer chip"/>
          <p:cNvSpPr/>
          <p:nvPr/>
        </p:nvSpPr>
        <p:spPr>
          <a:xfrm>
            <a:off x="548640" y="2971800"/>
            <a:ext cx="685800" cy="548640"/>
          </a:xfrm>
          <a:prstGeom prst="roundRect">
            <a:avLst>
              <a:gd name="adj" fmla="val 10000"/>
            </a:avLst>
          </a:prstGeom>
          <a:solidFill>
            <a:schemeClr val="accent1"/>
          </a:solidFill>
          <a:ln w="12700">
            <a:solidFill>
              <a:schemeClr val="accent1"/>
            </a:solidFill>
            <a:prstDash val="solid"/>
          </a:ln>
        </p:spPr>
      </p:sp>
      <p:sp>
        <p:nvSpPr>
          <p:cNvPr id="10" name="Text 8"/>
          <p:cNvSpPr txBox="1"/>
          <p:nvPr/>
        </p:nvSpPr>
        <p:spPr>
          <a:xfrm>
            <a:off x="548640" y="2971800"/>
            <a:ext cx="685800" cy="548640"/>
          </a:xfrm>
          <a:prstGeom prst="rect">
            <a:avLst/>
          </a:prstGeom>
          <a:noFill/>
          <a:ln/>
        </p:spPr>
        <p:txBody>
          <a:bodyPr wrap="square" lIns="0" tIns="0" rIns="0" bIns="0" rtlCol="0" anchor="ctr"/>
          <a:lstStyle/>
          <a:p>
            <a:pPr algn="ctr" indent="0" marL="0">
              <a:buNone/>
            </a:pPr>
            <a:r>
              <a:rPr lang="en-US" sz="1800" b="1" dirty="0">
                <a:solidFill>
                  <a:schemeClr val="tx2"/>
                </a:solidFill>
              </a:rPr>
              <a:t>Q3</a:t>
            </a:r>
            <a:endParaRPr lang="en-US" sz="1800" dirty="0"/>
          </a:p>
        </p:txBody>
      </p:sp>
      <p:sp>
        <p:nvSpPr>
          <p:cNvPr id="11" name="Text 9"/>
          <p:cNvSpPr txBox="1"/>
          <p:nvPr/>
        </p:nvSpPr>
        <p:spPr>
          <a:xfrm>
            <a:off x="1463040" y="2971800"/>
            <a:ext cx="7132320" cy="548640"/>
          </a:xfrm>
          <a:prstGeom prst="rect">
            <a:avLst/>
          </a:prstGeom>
          <a:noFill/>
          <a:ln/>
        </p:spPr>
        <p:txBody>
          <a:bodyPr wrap="square" lIns="0" tIns="0" rIns="0" bIns="0" rtlCol="0" anchor="ctr"/>
          <a:lstStyle/>
          <a:p>
            <a:pPr indent="0" marL="0">
              <a:buNone/>
            </a:pPr>
            <a:r>
              <a:rPr lang="en-US" sz="1600" dirty="0">
                <a:solidFill>
                  <a:schemeClr val="bg1"/>
                </a:solidFill>
              </a:rPr>
              <a:t>11–13 Oct 2026 in Bengaluru; the café photo and the e-mail draft fall on the same evening.</a:t>
            </a:r>
            <a:endParaRPr lang="en-US" sz="1600" dirty="0"/>
          </a:p>
        </p:txBody>
      </p:sp>
      <p:pic>
        <p:nvPicPr>
          <p:cNvPr id="12" name="shield" descr="preencoded.png">    </p:cNvPr>
          <p:cNvPicPr>
            <a:picLocks noChangeAspect="1"/>
          </p:cNvPicPr>
          <p:nvPr/>
        </p:nvPicPr>
        <p:blipFill>
          <a:blip r:embed="rId1"/>
          <a:stretch>
            <a:fillRect/>
          </a:stretch>
        </p:blipFill>
        <p:spPr>
          <a:xfrm>
            <a:off x="685800" y="3840480"/>
            <a:ext cx="384048" cy="384048"/>
          </a:xfrm>
          <a:prstGeom prst="rect">
            <a:avLst/>
          </a:prstGeom>
        </p:spPr>
      </p:pic>
      <p:sp>
        <p:nvSpPr>
          <p:cNvPr id="13" name="Text 10"/>
          <p:cNvSpPr txBox="1"/>
          <p:nvPr/>
        </p:nvSpPr>
        <p:spPr>
          <a:xfrm>
            <a:off x="1463040" y="3794760"/>
            <a:ext cx="7132320" cy="457200"/>
          </a:xfrm>
          <a:prstGeom prst="rect">
            <a:avLst/>
          </a:prstGeom>
          <a:noFill/>
          <a:ln/>
        </p:spPr>
        <p:txBody>
          <a:bodyPr wrap="square" lIns="0" tIns="0" rIns="0" bIns="0" rtlCol="0" anchor="ctr"/>
          <a:lstStyle/>
          <a:p>
            <a:pPr indent="0" marL="0">
              <a:buNone/>
            </a:pPr>
            <a:r>
              <a:rPr lang="en-US" sz="1500" i="1" dirty="0">
                <a:solidFill>
                  <a:schemeClr val="accent5"/>
                </a:solidFill>
              </a:rPr>
              <a:t>Evidence integrity proved with matching MD5 and SHA-256 hashes.</a:t>
            </a:r>
            <a:endParaRPr lang="en-US" sz="1500" dirty="0"/>
          </a:p>
        </p:txBody>
      </p:sp>
      <p:sp>
        <p:nvSpPr>
          <p:cNvPr id="14" name="Text 11"/>
          <p:cNvSpPr txBox="1"/>
          <p:nvPr/>
        </p:nvSpPr>
        <p:spPr>
          <a:xfrm>
            <a:off x="548640" y="4434840"/>
            <a:ext cx="8046720" cy="411480"/>
          </a:xfrm>
          <a:prstGeom prst="rect">
            <a:avLst/>
          </a:prstGeom>
          <a:noFill/>
          <a:ln/>
        </p:spPr>
        <p:txBody>
          <a:bodyPr wrap="square" lIns="0" tIns="0" rIns="0" bIns="0" rtlCol="0" anchor="ctr"/>
          <a:lstStyle/>
          <a:p>
            <a:pPr indent="0" marL="0">
              <a:buNone/>
            </a:pPr>
            <a:r>
              <a:rPr lang="en-US" sz="2000" b="1" dirty="0">
                <a:solidFill>
                  <a:schemeClr val="accent1"/>
                </a:solidFill>
                <a:latin typeface="Cambria" pitchFamily="34" charset="0"/>
                <a:ea typeface="Cambria" pitchFamily="34" charset="-122"/>
                <a:cs typeface="Cambria" pitchFamily="34" charset="-120"/>
              </a:rPr>
              <a:t>Thank you — questions?</a:t>
            </a:r>
            <a:endParaRPr lang="en-US" sz="2000" dirty="0"/>
          </a:p>
        </p:txBody>
      </p:sp>
    </p:spTree>
  </p:cSld>
  <p:clrMapOvr>
    <a:masterClrMapping/>
  </p:clrMapOvr>
</p:sld>
</file>

<file path=ppt/theme/theme1.xml><?xml version="1.0" encoding="utf-8"?>
<a:theme xmlns:a="http://schemas.openxmlformats.org/drawingml/2006/main" name="Evidence">
  <a:themeElements>
    <a:clrScheme name="Evidence">
      <a:dk1>
        <a:srgbClr val="141B26"/>
      </a:dk1>
      <a:lt1>
        <a:srgbClr val="FFFFFF"/>
      </a:lt1>
      <a:dk2>
        <a:srgbClr val="1C2A3F"/>
      </a:dk2>
      <a:lt2>
        <a:srgbClr val="EEF1F5"/>
      </a:lt2>
      <a:accent1>
        <a:srgbClr val="F2A900"/>
      </a:accent1>
      <a:accent2>
        <a:srgbClr val="D7263D"/>
      </a:accent2>
      <a:accent3>
        <a:srgbClr val="2E8B9A"/>
      </a:accent3>
      <a:accent4>
        <a:srgbClr val="5B6B82"/>
      </a:accent4>
      <a:accent5>
        <a:srgbClr val="8FA3BF"/>
      </a:accent5>
      <a:accent6>
        <a:srgbClr val="3C9D5D"/>
      </a:accent6>
      <a:hlink>
        <a:srgbClr val="2E8B9A"/>
      </a:hlink>
      <a:folHlink>
        <a:srgbClr val="5B6B82"/>
      </a:folHlink>
    </a:clrScheme>
    <a:fontScheme name="Eviden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Autopsy – Storage Drive Evidence Analysis</dc:title>
  <dc:subject>PptxGenJS Presentation</dc:subject>
  <dc:creator>Gautham, Archana</dc:creator>
  <cp:lastModifiedBy>Gautham, Archana</cp:lastModifiedBy>
  <cp:revision>1</cp:revision>
  <dcterms:created xsi:type="dcterms:W3CDTF">2026-10-23T14:07:10Z</dcterms:created>
  <dcterms:modified xsi:type="dcterms:W3CDTF">2026-10-23T14:07:10Z</dcterms:modified>
</cp:coreProperties>
</file>